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2" r:id="rId5"/>
    <p:sldId id="263" r:id="rId6"/>
    <p:sldId id="274" r:id="rId7"/>
    <p:sldId id="271" r:id="rId8"/>
    <p:sldId id="276" r:id="rId9"/>
    <p:sldId id="261" r:id="rId10"/>
    <p:sldId id="264" r:id="rId11"/>
    <p:sldId id="265" r:id="rId12"/>
    <p:sldId id="277" r:id="rId13"/>
    <p:sldId id="273" r:id="rId14"/>
    <p:sldId id="26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9" autoAdjust="0"/>
    <p:restoredTop sz="96247" autoAdjust="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CBE12-7F31-2A7B-1743-B9264D16F1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617244-3C32-E9BA-CE37-58DA725551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E9712A-F2D0-0B9F-64C3-3087D37F6424}"/>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5" name="Footer Placeholder 4">
            <a:extLst>
              <a:ext uri="{FF2B5EF4-FFF2-40B4-BE49-F238E27FC236}">
                <a16:creationId xmlns:a16="http://schemas.microsoft.com/office/drawing/2014/main" id="{08CD0F05-97D4-EEEC-2C6B-9441B03B3C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30E88F-542C-2B5F-907D-92F84936A912}"/>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3167496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D2896-C937-5549-C09C-84861CA8E4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F965B4-3ED1-1C8B-1248-B060749282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63C8C8-5BFA-6AA5-EF29-1128C15282B1}"/>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5" name="Footer Placeholder 4">
            <a:extLst>
              <a:ext uri="{FF2B5EF4-FFF2-40B4-BE49-F238E27FC236}">
                <a16:creationId xmlns:a16="http://schemas.microsoft.com/office/drawing/2014/main" id="{DEC9634F-D471-074D-9DBC-EA7B5B8221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87D828-3D12-0523-6ACF-6664128B0456}"/>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677296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7B28F-2068-C6B1-1569-994CED73DE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D60836-4CE0-80E6-3303-2CF9E55BA2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50704E-354C-D80E-4A83-D36F00121B95}"/>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5" name="Footer Placeholder 4">
            <a:extLst>
              <a:ext uri="{FF2B5EF4-FFF2-40B4-BE49-F238E27FC236}">
                <a16:creationId xmlns:a16="http://schemas.microsoft.com/office/drawing/2014/main" id="{CE743321-F609-280D-1308-B0B8712D2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E8490-F0A4-7AE2-FE5A-5D1898BB2083}"/>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3677168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F5BC0-4BFE-D358-7220-1B5CD9563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D4C5FF-050C-7754-5F32-668780A3CC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5E71CA-26B3-02E7-4EEC-188F92C37C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7921A0-B5D6-B343-6B52-995636DD5629}"/>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6" name="Footer Placeholder 5">
            <a:extLst>
              <a:ext uri="{FF2B5EF4-FFF2-40B4-BE49-F238E27FC236}">
                <a16:creationId xmlns:a16="http://schemas.microsoft.com/office/drawing/2014/main" id="{C37F7931-87C5-F226-5204-E3E0E083BB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087401-6E43-A2B6-B212-A5CC9452486B}"/>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353813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4FFED-4920-F3C5-E498-116034F8BE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6ABF1C-B331-2397-D441-1FEE2946B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0906AC-F848-71DD-5E1C-842321F86D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704E67-13F4-9EB1-A5E2-0DBD7D8A6B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520AE9-49C5-BD07-A396-0C0AC0C219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B5E4D5-0A6B-8F35-A438-39FCAAFCDB74}"/>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8" name="Footer Placeholder 7">
            <a:extLst>
              <a:ext uri="{FF2B5EF4-FFF2-40B4-BE49-F238E27FC236}">
                <a16:creationId xmlns:a16="http://schemas.microsoft.com/office/drawing/2014/main" id="{A327B0F7-3FDD-3AC3-0CA7-4F21DEBFFF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5ACA7D-9F09-4CD8-EF7B-B83DC251CB03}"/>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2525534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C4D1B-A064-CEC8-CB16-E9355837AB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44ABCC-BA9F-560B-725A-A4D86D1EE3B6}"/>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4" name="Footer Placeholder 3">
            <a:extLst>
              <a:ext uri="{FF2B5EF4-FFF2-40B4-BE49-F238E27FC236}">
                <a16:creationId xmlns:a16="http://schemas.microsoft.com/office/drawing/2014/main" id="{58FF18F6-915D-9564-6BDF-F0DD029229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E0EAFE-AD13-348A-3268-926CF9FEBCEA}"/>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3335881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38C1EB-6FB6-57BD-B644-8F8BB8CDC92B}"/>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3" name="Footer Placeholder 2">
            <a:extLst>
              <a:ext uri="{FF2B5EF4-FFF2-40B4-BE49-F238E27FC236}">
                <a16:creationId xmlns:a16="http://schemas.microsoft.com/office/drawing/2014/main" id="{C5C97A5C-6608-0E74-5872-B093E421DA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2D8FCE-BF4B-0620-60BE-393E49D6DD1B}"/>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1673359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0E972-FF47-AAC5-90D7-EA65A6294C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43387B-7427-AB41-AC18-786F34F372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C3848-6993-2535-F80C-0475FA6626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D53290-2F2E-BC1A-2F48-93E5B8B91CC3}"/>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6" name="Footer Placeholder 5">
            <a:extLst>
              <a:ext uri="{FF2B5EF4-FFF2-40B4-BE49-F238E27FC236}">
                <a16:creationId xmlns:a16="http://schemas.microsoft.com/office/drawing/2014/main" id="{AA047BD4-FCFB-AF6A-CFAB-309A8E6ED0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936618-5938-9C2F-6F76-05EC840BFFEE}"/>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1357236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60AC6-A543-CF10-845D-D77427D683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B1BACF-19BC-C3D3-B1FB-FCD86E4017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ECDE23-AAC4-27F8-EF0A-F6BC3038D6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39ADC1-5A8D-9099-88D6-28A4D1FF61D1}"/>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6" name="Footer Placeholder 5">
            <a:extLst>
              <a:ext uri="{FF2B5EF4-FFF2-40B4-BE49-F238E27FC236}">
                <a16:creationId xmlns:a16="http://schemas.microsoft.com/office/drawing/2014/main" id="{0F9482FE-CA54-1D7C-AAD8-2E49C78169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0A44E-158E-21D5-874D-8C4CC0D85EDA}"/>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1518545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40DFE-DE31-6B2E-A24F-A7E9DD6E9E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C222A6-78A3-55DF-27B6-88A9D3E825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B3F430-7337-7FC1-88C5-642D57213B3A}"/>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5" name="Footer Placeholder 4">
            <a:extLst>
              <a:ext uri="{FF2B5EF4-FFF2-40B4-BE49-F238E27FC236}">
                <a16:creationId xmlns:a16="http://schemas.microsoft.com/office/drawing/2014/main" id="{41E87673-1F75-E6F4-9248-DF4B11B2F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856388-6307-F11E-BC8B-A35F940BF47D}"/>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1685957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614DD-0114-CB84-5410-44219CFE42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DF1618-0D26-52ED-1BBE-EDA3C663CD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5D8215-8AA9-FC10-BDEC-B4D563D61896}"/>
              </a:ext>
            </a:extLst>
          </p:cNvPr>
          <p:cNvSpPr>
            <a:spLocks noGrp="1"/>
          </p:cNvSpPr>
          <p:nvPr>
            <p:ph type="dt" sz="half" idx="10"/>
          </p:nvPr>
        </p:nvSpPr>
        <p:spPr/>
        <p:txBody>
          <a:bodyPr/>
          <a:lstStyle/>
          <a:p>
            <a:fld id="{C22BF69C-EC9A-4361-A59E-E1CDA999AFAD}" type="datetimeFigureOut">
              <a:rPr lang="en-US" smtClean="0"/>
              <a:t>11/5/2025</a:t>
            </a:fld>
            <a:endParaRPr lang="en-US"/>
          </a:p>
        </p:txBody>
      </p:sp>
      <p:sp>
        <p:nvSpPr>
          <p:cNvPr id="5" name="Footer Placeholder 4">
            <a:extLst>
              <a:ext uri="{FF2B5EF4-FFF2-40B4-BE49-F238E27FC236}">
                <a16:creationId xmlns:a16="http://schemas.microsoft.com/office/drawing/2014/main" id="{5CA8CD4D-AD76-ACEE-94B5-B3895FCC49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489A2E-33C8-38B7-BC38-61F2BBC53F96}"/>
              </a:ext>
            </a:extLst>
          </p:cNvPr>
          <p:cNvSpPr>
            <a:spLocks noGrp="1"/>
          </p:cNvSpPr>
          <p:nvPr>
            <p:ph type="sldNum" sz="quarter" idx="12"/>
          </p:nvPr>
        </p:nvSpPr>
        <p:spPr/>
        <p:txBody>
          <a:bodyPr/>
          <a:lstStyle/>
          <a:p>
            <a:fld id="{E4E39189-5F5C-4D26-958C-27660102B387}" type="slidenum">
              <a:rPr lang="en-US" smtClean="0"/>
              <a:t>‹#›</a:t>
            </a:fld>
            <a:endParaRPr lang="en-US"/>
          </a:p>
        </p:txBody>
      </p:sp>
    </p:spTree>
    <p:extLst>
      <p:ext uri="{BB962C8B-B14F-4D97-AF65-F5344CB8AC3E}">
        <p14:creationId xmlns:p14="http://schemas.microsoft.com/office/powerpoint/2010/main" val="234632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C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BA4B17-7790-D6A9-3A0C-59394A72BB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411360-866C-31AB-4C1B-90C34A89BF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0E37F-BB75-C4BA-1ED5-359EF1344C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2BF69C-EC9A-4361-A59E-E1CDA999AFAD}" type="datetimeFigureOut">
              <a:rPr lang="en-US" smtClean="0"/>
              <a:t>11/5/2025</a:t>
            </a:fld>
            <a:endParaRPr lang="en-US"/>
          </a:p>
        </p:txBody>
      </p:sp>
      <p:sp>
        <p:nvSpPr>
          <p:cNvPr id="5" name="Footer Placeholder 4">
            <a:extLst>
              <a:ext uri="{FF2B5EF4-FFF2-40B4-BE49-F238E27FC236}">
                <a16:creationId xmlns:a16="http://schemas.microsoft.com/office/drawing/2014/main" id="{29017FA2-4401-3C8F-822D-4B5BD4D170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46BE3B-E62D-17C3-4BEA-7C35487B31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E39189-5F5C-4D26-958C-27660102B387}" type="slidenum">
              <a:rPr lang="en-US" smtClean="0"/>
              <a:t>‹#›</a:t>
            </a:fld>
            <a:endParaRPr lang="en-US"/>
          </a:p>
        </p:txBody>
      </p:sp>
    </p:spTree>
    <p:extLst>
      <p:ext uri="{BB962C8B-B14F-4D97-AF65-F5344CB8AC3E}">
        <p14:creationId xmlns:p14="http://schemas.microsoft.com/office/powerpoint/2010/main" val="3896006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95A9F-4C3D-B25A-CB60-0AB581D41877}"/>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5235F948-DE2F-6DA9-DCD2-6D1F0C7BEB7A}"/>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7AF3AD57-CCBB-A65D-335B-87BB882C8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EE96E7A-1C6F-9064-04D0-316AEDAE45D1}"/>
              </a:ext>
            </a:extLst>
          </p:cNvPr>
          <p:cNvSpPr txBox="1"/>
          <p:nvPr/>
        </p:nvSpPr>
        <p:spPr>
          <a:xfrm>
            <a:off x="8360229" y="4815840"/>
            <a:ext cx="3735977" cy="1538883"/>
          </a:xfrm>
          <a:prstGeom prst="rect">
            <a:avLst/>
          </a:prstGeom>
          <a:noFill/>
        </p:spPr>
        <p:txBody>
          <a:bodyPr wrap="square" rtlCol="0">
            <a:spAutoFit/>
          </a:bodyPr>
          <a:lstStyle/>
          <a:p>
            <a:r>
              <a:rPr lang="en-US" sz="4000" b="1" dirty="0">
                <a:latin typeface="Century Gothic" panose="020B0502020202020204" pitchFamily="34" charset="0"/>
              </a:rPr>
              <a:t>PRESENTED BY:</a:t>
            </a:r>
          </a:p>
          <a:p>
            <a:endParaRPr lang="en-US" b="1" dirty="0">
              <a:latin typeface="Century Gothic" panose="020B0502020202020204" pitchFamily="34" charset="0"/>
            </a:endParaRPr>
          </a:p>
          <a:p>
            <a:r>
              <a:rPr lang="en-US" sz="3600" dirty="0">
                <a:latin typeface="Century Gothic" panose="020B0502020202020204" pitchFamily="34" charset="0"/>
              </a:rPr>
              <a:t>DAP – GROUP 1</a:t>
            </a:r>
          </a:p>
        </p:txBody>
      </p:sp>
    </p:spTree>
    <p:extLst>
      <p:ext uri="{BB962C8B-B14F-4D97-AF65-F5344CB8AC3E}">
        <p14:creationId xmlns:p14="http://schemas.microsoft.com/office/powerpoint/2010/main" val="3619450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80F6-64F9-0C6B-EC48-2EDD0932F4B6}"/>
              </a:ext>
            </a:extLst>
          </p:cNvPr>
          <p:cNvSpPr>
            <a:spLocks noGrp="1"/>
          </p:cNvSpPr>
          <p:nvPr>
            <p:ph type="title"/>
          </p:nvPr>
        </p:nvSpPr>
        <p:spPr>
          <a:xfrm>
            <a:off x="475488" y="365125"/>
            <a:ext cx="11247120" cy="951611"/>
          </a:xfrm>
        </p:spPr>
        <p:txBody>
          <a:bodyPr>
            <a:noAutofit/>
          </a:bodyPr>
          <a:lstStyle/>
          <a:p>
            <a:pPr algn="ctr"/>
            <a:r>
              <a:rPr lang="en-US" sz="3200" b="1" dirty="0">
                <a:latin typeface="Century Gothic" panose="020B0502020202020204" pitchFamily="34" charset="0"/>
              </a:rPr>
              <a:t>MTN CUSTOMER INSIGHTS DASHBOARD-1</a:t>
            </a:r>
            <a:r>
              <a:rPr lang="en-US" sz="3200" b="1" baseline="30000" dirty="0">
                <a:latin typeface="Century Gothic" panose="020B0502020202020204" pitchFamily="34" charset="0"/>
              </a:rPr>
              <a:t>ST</a:t>
            </a:r>
            <a:r>
              <a:rPr lang="en-US" sz="3200" b="1" dirty="0">
                <a:latin typeface="Century Gothic" panose="020B0502020202020204" pitchFamily="34" charset="0"/>
              </a:rPr>
              <a:t> QUARTER 2025</a:t>
            </a:r>
          </a:p>
        </p:txBody>
      </p:sp>
      <p:sp>
        <p:nvSpPr>
          <p:cNvPr id="6" name="Content Placeholder 5">
            <a:extLst>
              <a:ext uri="{FF2B5EF4-FFF2-40B4-BE49-F238E27FC236}">
                <a16:creationId xmlns:a16="http://schemas.microsoft.com/office/drawing/2014/main" id="{39CF23AA-C3D9-D8F1-4C10-7559E38695C2}"/>
              </a:ext>
            </a:extLst>
          </p:cNvPr>
          <p:cNvSpPr>
            <a:spLocks noGrp="1"/>
          </p:cNvSpPr>
          <p:nvPr>
            <p:ph idx="1"/>
          </p:nvPr>
        </p:nvSpPr>
        <p:spPr>
          <a:xfrm>
            <a:off x="838200" y="1234440"/>
            <a:ext cx="10683240" cy="5258435"/>
          </a:xfrm>
        </p:spPr>
        <p:txBody>
          <a:bodyPr>
            <a:normAutofit fontScale="47500" lnSpcReduction="20000"/>
          </a:bodyPr>
          <a:lstStyle/>
          <a:p>
            <a:pPr marL="0" indent="0">
              <a:buNone/>
            </a:pPr>
            <a:endParaRPr lang="en-US" b="1" dirty="0"/>
          </a:p>
          <a:p>
            <a:pPr marL="0" indent="0">
              <a:buNone/>
            </a:pPr>
            <a:r>
              <a:rPr lang="en-US" sz="5100" b="1" dirty="0">
                <a:latin typeface="Century Gothic" panose="020B0502020202020204" pitchFamily="34" charset="0"/>
              </a:rPr>
              <a:t>Background</a:t>
            </a:r>
          </a:p>
          <a:p>
            <a:pPr marL="0" indent="0">
              <a:lnSpc>
                <a:spcPct val="170000"/>
              </a:lnSpc>
              <a:buNone/>
            </a:pPr>
            <a:r>
              <a:rPr lang="en-US" sz="4200" dirty="0">
                <a:latin typeface="Century Gothic" panose="020B0502020202020204" pitchFamily="34" charset="0"/>
              </a:rPr>
              <a:t>This analysis explores customer purchase behavior, data usage, and revenue patterns across different demographics and plan types. The goal is to uncover key trends that can drive customer retention, satisfaction, and profitability.</a:t>
            </a:r>
          </a:p>
          <a:p>
            <a:pPr marL="0" indent="0">
              <a:buNone/>
            </a:pPr>
            <a:br>
              <a:rPr lang="en-US" dirty="0">
                <a:latin typeface="Century Gothic" panose="020B0502020202020204" pitchFamily="34" charset="0"/>
              </a:rPr>
            </a:br>
            <a:endParaRPr lang="en-US" dirty="0">
              <a:latin typeface="Century Gothic" panose="020B0502020202020204" pitchFamily="34" charset="0"/>
            </a:endParaRPr>
          </a:p>
          <a:p>
            <a:pPr marL="0" indent="0">
              <a:buNone/>
            </a:pPr>
            <a:r>
              <a:rPr lang="en-US" b="1" dirty="0">
                <a:latin typeface="Century Gothic" panose="020B0502020202020204" pitchFamily="34" charset="0"/>
              </a:rPr>
              <a:t> </a:t>
            </a:r>
            <a:r>
              <a:rPr lang="en-US" sz="5100" b="1" dirty="0">
                <a:latin typeface="Century Gothic" panose="020B0502020202020204" pitchFamily="34" charset="0"/>
              </a:rPr>
              <a:t>Objectives</a:t>
            </a:r>
          </a:p>
          <a:p>
            <a:pPr>
              <a:lnSpc>
                <a:spcPct val="170000"/>
              </a:lnSpc>
            </a:pPr>
            <a:r>
              <a:rPr lang="en-US" sz="4200" dirty="0">
                <a:latin typeface="Century Gothic" panose="020B0502020202020204" pitchFamily="34" charset="0"/>
              </a:rPr>
              <a:t>Analyze </a:t>
            </a:r>
            <a:r>
              <a:rPr lang="en-US" sz="4200" b="1" dirty="0">
                <a:latin typeface="Century Gothic" panose="020B0502020202020204" pitchFamily="34" charset="0"/>
              </a:rPr>
              <a:t>monthly data usage</a:t>
            </a:r>
            <a:r>
              <a:rPr lang="en-US" sz="4200" dirty="0">
                <a:latin typeface="Century Gothic" panose="020B0502020202020204" pitchFamily="34" charset="0"/>
              </a:rPr>
              <a:t> and </a:t>
            </a:r>
            <a:r>
              <a:rPr lang="en-US" sz="4200" b="1" dirty="0">
                <a:latin typeface="Century Gothic" panose="020B0502020202020204" pitchFamily="34" charset="0"/>
              </a:rPr>
              <a:t>revenue performance</a:t>
            </a:r>
            <a:r>
              <a:rPr lang="en-US" sz="4200" dirty="0">
                <a:latin typeface="Century Gothic" panose="020B0502020202020204" pitchFamily="34" charset="0"/>
              </a:rPr>
              <a:t>.</a:t>
            </a:r>
          </a:p>
          <a:p>
            <a:pPr>
              <a:lnSpc>
                <a:spcPct val="170000"/>
              </a:lnSpc>
            </a:pPr>
            <a:r>
              <a:rPr lang="en-US" sz="4200" dirty="0">
                <a:latin typeface="Century Gothic" panose="020B0502020202020204" pitchFamily="34" charset="0"/>
              </a:rPr>
              <a:t>Identify </a:t>
            </a:r>
            <a:r>
              <a:rPr lang="en-US" sz="4200" b="1" dirty="0">
                <a:latin typeface="Century Gothic" panose="020B0502020202020204" pitchFamily="34" charset="0"/>
              </a:rPr>
              <a:t>high-value customers</a:t>
            </a:r>
            <a:r>
              <a:rPr lang="en-US" sz="4200" dirty="0">
                <a:latin typeface="Century Gothic" panose="020B0502020202020204" pitchFamily="34" charset="0"/>
              </a:rPr>
              <a:t> and churn patterns.</a:t>
            </a:r>
          </a:p>
          <a:p>
            <a:pPr>
              <a:lnSpc>
                <a:spcPct val="170000"/>
              </a:lnSpc>
            </a:pPr>
            <a:r>
              <a:rPr lang="en-US" sz="4200" dirty="0">
                <a:latin typeface="Century Gothic" panose="020B0502020202020204" pitchFamily="34" charset="0"/>
              </a:rPr>
              <a:t>Examine how </a:t>
            </a:r>
            <a:r>
              <a:rPr lang="en-US" sz="4200" b="1" dirty="0">
                <a:latin typeface="Century Gothic" panose="020B0502020202020204" pitchFamily="34" charset="0"/>
              </a:rPr>
              <a:t>age, device, and plan type</a:t>
            </a:r>
            <a:r>
              <a:rPr lang="en-US" sz="4200" dirty="0">
                <a:latin typeface="Century Gothic" panose="020B0502020202020204" pitchFamily="34" charset="0"/>
              </a:rPr>
              <a:t> influence revenue.</a:t>
            </a:r>
          </a:p>
          <a:p>
            <a:pPr>
              <a:lnSpc>
                <a:spcPct val="170000"/>
              </a:lnSpc>
            </a:pPr>
            <a:r>
              <a:rPr lang="en-US" sz="4200" dirty="0">
                <a:latin typeface="Century Gothic" panose="020B0502020202020204" pitchFamily="34" charset="0"/>
              </a:rPr>
              <a:t>Provide</a:t>
            </a:r>
            <a:r>
              <a:rPr lang="en-US" sz="4200" b="1" dirty="0">
                <a:latin typeface="Century Gothic" panose="020B0502020202020204" pitchFamily="34" charset="0"/>
              </a:rPr>
              <a:t> recommendations</a:t>
            </a:r>
            <a:r>
              <a:rPr lang="en-US" sz="4200" dirty="0">
                <a:latin typeface="Century Gothic" panose="020B0502020202020204" pitchFamily="34" charset="0"/>
              </a:rPr>
              <a:t> to enhance customer experience.</a:t>
            </a:r>
          </a:p>
          <a:p>
            <a:endParaRPr lang="en-US" dirty="0"/>
          </a:p>
        </p:txBody>
      </p:sp>
    </p:spTree>
    <p:extLst>
      <p:ext uri="{BB962C8B-B14F-4D97-AF65-F5344CB8AC3E}">
        <p14:creationId xmlns:p14="http://schemas.microsoft.com/office/powerpoint/2010/main" val="3109146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1517F-F9FD-5A8B-5885-A5A3FE219548}"/>
              </a:ext>
            </a:extLst>
          </p:cNvPr>
          <p:cNvSpPr>
            <a:spLocks noGrp="1"/>
          </p:cNvSpPr>
          <p:nvPr>
            <p:ph type="title"/>
          </p:nvPr>
        </p:nvSpPr>
        <p:spPr>
          <a:xfrm>
            <a:off x="838200" y="365126"/>
            <a:ext cx="5181600" cy="716454"/>
          </a:xfrm>
        </p:spPr>
        <p:txBody>
          <a:bodyPr>
            <a:normAutofit/>
          </a:bodyPr>
          <a:lstStyle/>
          <a:p>
            <a:pPr algn="ctr"/>
            <a:r>
              <a:rPr lang="en-US" sz="3200" b="1" dirty="0">
                <a:latin typeface="Century Gothic" panose="020B0502020202020204" pitchFamily="34" charset="0"/>
              </a:rPr>
              <a:t>DATA FIELDS</a:t>
            </a:r>
          </a:p>
        </p:txBody>
      </p:sp>
      <p:sp>
        <p:nvSpPr>
          <p:cNvPr id="3" name="Content Placeholder 2">
            <a:extLst>
              <a:ext uri="{FF2B5EF4-FFF2-40B4-BE49-F238E27FC236}">
                <a16:creationId xmlns:a16="http://schemas.microsoft.com/office/drawing/2014/main" id="{87E4AB5E-3C6A-C85A-51D8-6B0E82EC95FF}"/>
              </a:ext>
            </a:extLst>
          </p:cNvPr>
          <p:cNvSpPr>
            <a:spLocks noGrp="1"/>
          </p:cNvSpPr>
          <p:nvPr>
            <p:ph sz="half" idx="1"/>
          </p:nvPr>
        </p:nvSpPr>
        <p:spPr>
          <a:xfrm>
            <a:off x="755904" y="1081578"/>
            <a:ext cx="5181600" cy="5411295"/>
          </a:xfrm>
        </p:spPr>
        <p:txBody>
          <a:bodyPr>
            <a:normAutofit fontScale="32500" lnSpcReduction="20000"/>
          </a:bodyPr>
          <a:lstStyle/>
          <a:p>
            <a:pPr marL="0" indent="0">
              <a:buNone/>
            </a:pPr>
            <a:r>
              <a:rPr lang="en-US" sz="4000" b="1" dirty="0">
                <a:latin typeface="Century Gothic" panose="020B0502020202020204" pitchFamily="34" charset="0"/>
              </a:rPr>
              <a:t>Customer Information</a:t>
            </a:r>
            <a:endParaRPr lang="en-US" sz="4000" dirty="0">
              <a:latin typeface="Century Gothic" panose="020B0502020202020204" pitchFamily="34" charset="0"/>
            </a:endParaRPr>
          </a:p>
          <a:p>
            <a:r>
              <a:rPr lang="en-US" sz="3700" dirty="0">
                <a:latin typeface="Century Gothic" panose="020B0502020202020204" pitchFamily="34" charset="0"/>
              </a:rPr>
              <a:t>Customer ID</a:t>
            </a:r>
          </a:p>
          <a:p>
            <a:r>
              <a:rPr lang="en-US" sz="3700" dirty="0">
                <a:latin typeface="Century Gothic" panose="020B0502020202020204" pitchFamily="34" charset="0"/>
              </a:rPr>
              <a:t>Age</a:t>
            </a:r>
          </a:p>
          <a:p>
            <a:r>
              <a:rPr lang="en-US" sz="3700" dirty="0">
                <a:latin typeface="Century Gothic" panose="020B0502020202020204" pitchFamily="34" charset="0"/>
              </a:rPr>
              <a:t>Gender</a:t>
            </a:r>
          </a:p>
          <a:p>
            <a:r>
              <a:rPr lang="en-US" sz="3700" dirty="0">
                <a:latin typeface="Century Gothic" panose="020B0502020202020204" pitchFamily="34" charset="0"/>
              </a:rPr>
              <a:t>State</a:t>
            </a:r>
          </a:p>
          <a:p>
            <a:pPr marL="0" indent="0">
              <a:buNone/>
            </a:pPr>
            <a:endParaRPr lang="en-US" sz="1100" dirty="0">
              <a:latin typeface="Century Gothic" panose="020B0502020202020204" pitchFamily="34" charset="0"/>
            </a:endParaRPr>
          </a:p>
          <a:p>
            <a:pPr marL="0" indent="0">
              <a:buNone/>
            </a:pPr>
            <a:r>
              <a:rPr lang="en-US" sz="4000" b="1" dirty="0">
                <a:latin typeface="Century Gothic" panose="020B0502020202020204" pitchFamily="34" charset="0"/>
              </a:rPr>
              <a:t>Subscription &amp; Usage</a:t>
            </a:r>
            <a:endParaRPr lang="en-US" sz="4000" dirty="0">
              <a:latin typeface="Century Gothic" panose="020B0502020202020204" pitchFamily="34" charset="0"/>
            </a:endParaRPr>
          </a:p>
          <a:p>
            <a:r>
              <a:rPr lang="en-US" sz="3700" dirty="0">
                <a:latin typeface="Century Gothic" panose="020B0502020202020204" pitchFamily="34" charset="0"/>
              </a:rPr>
              <a:t>MTN Device / Device Category</a:t>
            </a:r>
          </a:p>
          <a:p>
            <a:r>
              <a:rPr lang="en-US" sz="3700" dirty="0">
                <a:latin typeface="Century Gothic" panose="020B0502020202020204" pitchFamily="34" charset="0"/>
              </a:rPr>
              <a:t>Subscription Plan / Plan Type Category</a:t>
            </a:r>
          </a:p>
          <a:p>
            <a:r>
              <a:rPr lang="en-US" sz="3700" dirty="0">
                <a:latin typeface="Century Gothic" panose="020B0502020202020204" pitchFamily="34" charset="0"/>
              </a:rPr>
              <a:t>Data Usage</a:t>
            </a:r>
          </a:p>
          <a:p>
            <a:r>
              <a:rPr lang="en-US" sz="3700" dirty="0">
                <a:latin typeface="Century Gothic" panose="020B0502020202020204" pitchFamily="34" charset="0"/>
              </a:rPr>
              <a:t>Data Usage Per Month</a:t>
            </a:r>
          </a:p>
          <a:p>
            <a:pPr marL="0" indent="0">
              <a:buNone/>
            </a:pPr>
            <a:endParaRPr lang="en-US" sz="1000" dirty="0">
              <a:latin typeface="Century Gothic" panose="020B0502020202020204" pitchFamily="34" charset="0"/>
            </a:endParaRPr>
          </a:p>
          <a:p>
            <a:pPr marL="0" indent="0">
              <a:buNone/>
            </a:pPr>
            <a:r>
              <a:rPr lang="en-US" sz="4000" b="1" dirty="0">
                <a:latin typeface="Century Gothic" panose="020B0502020202020204" pitchFamily="34" charset="0"/>
              </a:rPr>
              <a:t>Financial Metrics</a:t>
            </a:r>
            <a:endParaRPr lang="en-US" sz="4000" dirty="0">
              <a:latin typeface="Century Gothic" panose="020B0502020202020204" pitchFamily="34" charset="0"/>
            </a:endParaRPr>
          </a:p>
          <a:p>
            <a:r>
              <a:rPr lang="en-US" sz="3700" dirty="0">
                <a:latin typeface="Century Gothic" panose="020B0502020202020204" pitchFamily="34" charset="0"/>
              </a:rPr>
              <a:t>Total Revenue</a:t>
            </a:r>
          </a:p>
          <a:p>
            <a:r>
              <a:rPr lang="en-US" sz="3700" dirty="0">
                <a:latin typeface="Century Gothic" panose="020B0502020202020204" pitchFamily="34" charset="0"/>
              </a:rPr>
              <a:t>Revenue Per Month</a:t>
            </a:r>
          </a:p>
          <a:p>
            <a:pPr marL="0" indent="0">
              <a:buNone/>
            </a:pPr>
            <a:endParaRPr lang="en-US" sz="1000" dirty="0">
              <a:latin typeface="Century Gothic" panose="020B0502020202020204" pitchFamily="34" charset="0"/>
            </a:endParaRPr>
          </a:p>
          <a:p>
            <a:pPr marL="0" indent="0">
              <a:buNone/>
            </a:pPr>
            <a:r>
              <a:rPr lang="en-US" sz="4000" b="1" dirty="0">
                <a:latin typeface="Century Gothic" panose="020B0502020202020204" pitchFamily="34" charset="0"/>
              </a:rPr>
              <a:t>Customer Experience &amp; Retention</a:t>
            </a:r>
            <a:endParaRPr lang="en-US" sz="4000" dirty="0">
              <a:latin typeface="Century Gothic" panose="020B0502020202020204" pitchFamily="34" charset="0"/>
            </a:endParaRPr>
          </a:p>
          <a:p>
            <a:r>
              <a:rPr lang="en-US" sz="3700" dirty="0">
                <a:latin typeface="Century Gothic" panose="020B0502020202020204" pitchFamily="34" charset="0"/>
              </a:rPr>
              <a:t>Satisfaction Rate</a:t>
            </a:r>
          </a:p>
          <a:p>
            <a:r>
              <a:rPr lang="en-US" sz="3700" dirty="0">
                <a:latin typeface="Century Gothic" panose="020B0502020202020204" pitchFamily="34" charset="0"/>
              </a:rPr>
              <a:t>Customer Review</a:t>
            </a:r>
          </a:p>
          <a:p>
            <a:r>
              <a:rPr lang="en-US" sz="3700" dirty="0">
                <a:latin typeface="Century Gothic" panose="020B0502020202020204" pitchFamily="34" charset="0"/>
              </a:rPr>
              <a:t>Customer Churn Status</a:t>
            </a:r>
          </a:p>
          <a:p>
            <a:r>
              <a:rPr lang="en-US" sz="3700" dirty="0">
                <a:latin typeface="Century Gothic" panose="020B0502020202020204" pitchFamily="34" charset="0"/>
              </a:rPr>
              <a:t>Reasons for Churn</a:t>
            </a:r>
          </a:p>
          <a:p>
            <a:r>
              <a:rPr lang="en-US" sz="3700" dirty="0">
                <a:latin typeface="Century Gothic" panose="020B0502020202020204" pitchFamily="34" charset="0"/>
              </a:rPr>
              <a:t>High Value Customer</a:t>
            </a:r>
          </a:p>
          <a:p>
            <a:endParaRPr lang="en-US" dirty="0">
              <a:latin typeface="Century Gothic" panose="020B0502020202020204" pitchFamily="34" charset="0"/>
            </a:endParaRPr>
          </a:p>
        </p:txBody>
      </p:sp>
      <p:sp>
        <p:nvSpPr>
          <p:cNvPr id="4" name="Content Placeholder 3">
            <a:extLst>
              <a:ext uri="{FF2B5EF4-FFF2-40B4-BE49-F238E27FC236}">
                <a16:creationId xmlns:a16="http://schemas.microsoft.com/office/drawing/2014/main" id="{6B56456A-CA56-59F0-51C4-4E4E14E285F9}"/>
              </a:ext>
            </a:extLst>
          </p:cNvPr>
          <p:cNvSpPr>
            <a:spLocks noGrp="1"/>
          </p:cNvSpPr>
          <p:nvPr>
            <p:ph sz="half" idx="2"/>
          </p:nvPr>
        </p:nvSpPr>
        <p:spPr>
          <a:xfrm>
            <a:off x="6096000" y="1081579"/>
            <a:ext cx="5181600" cy="4351338"/>
          </a:xfrm>
        </p:spPr>
        <p:txBody>
          <a:bodyPr>
            <a:normAutofit fontScale="32500" lnSpcReduction="20000"/>
          </a:bodyPr>
          <a:lstStyle/>
          <a:p>
            <a:pPr>
              <a:lnSpc>
                <a:spcPct val="170000"/>
              </a:lnSpc>
            </a:pPr>
            <a:r>
              <a:rPr lang="en-US" sz="3500" b="1" dirty="0">
                <a:latin typeface="Century Gothic" panose="020B0502020202020204" pitchFamily="34" charset="0"/>
              </a:rPr>
              <a:t>TOTAL NUMBER OF CUSTOMERS -</a:t>
            </a:r>
            <a:r>
              <a:rPr lang="en-US" sz="3500" dirty="0">
                <a:latin typeface="Century Gothic" panose="020B0502020202020204" pitchFamily="34" charset="0"/>
              </a:rPr>
              <a:t> </a:t>
            </a:r>
            <a:r>
              <a:rPr lang="en-US" sz="3700" dirty="0">
                <a:latin typeface="Century Gothic" panose="020B0502020202020204" pitchFamily="34" charset="0"/>
              </a:rPr>
              <a:t>496 (MALE - 246, FEMALE - 250)</a:t>
            </a:r>
          </a:p>
          <a:p>
            <a:pPr>
              <a:lnSpc>
                <a:spcPct val="170000"/>
              </a:lnSpc>
            </a:pPr>
            <a:r>
              <a:rPr lang="en-US" sz="3500" b="1" dirty="0">
                <a:latin typeface="Century Gothic" panose="020B0502020202020204" pitchFamily="34" charset="0"/>
              </a:rPr>
              <a:t>TOTAL REVENUE - </a:t>
            </a:r>
            <a:r>
              <a:rPr lang="en-US" sz="3700" dirty="0">
                <a:latin typeface="Century Gothic" panose="020B0502020202020204" pitchFamily="34" charset="0"/>
              </a:rPr>
              <a:t>199,348,200</a:t>
            </a:r>
          </a:p>
          <a:p>
            <a:pPr>
              <a:lnSpc>
                <a:spcPct val="170000"/>
              </a:lnSpc>
            </a:pPr>
            <a:r>
              <a:rPr lang="en-US" sz="3500" b="1" dirty="0">
                <a:latin typeface="Century Gothic" panose="020B0502020202020204" pitchFamily="34" charset="0"/>
              </a:rPr>
              <a:t>TOTAL NUMBER OF ORDERS- </a:t>
            </a:r>
            <a:r>
              <a:rPr lang="en-US" sz="3700" dirty="0">
                <a:latin typeface="Century Gothic" panose="020B0502020202020204" pitchFamily="34" charset="0"/>
              </a:rPr>
              <a:t>10,290</a:t>
            </a:r>
          </a:p>
          <a:p>
            <a:pPr>
              <a:lnSpc>
                <a:spcPct val="170000"/>
              </a:lnSpc>
            </a:pPr>
            <a:r>
              <a:rPr lang="en-US" sz="3500" b="1" dirty="0">
                <a:latin typeface="Century Gothic" panose="020B0502020202020204" pitchFamily="34" charset="0"/>
              </a:rPr>
              <a:t>%CHURNED CUSTOMERS -</a:t>
            </a:r>
            <a:r>
              <a:rPr lang="en-US" sz="3500" dirty="0">
                <a:latin typeface="Century Gothic" panose="020B0502020202020204" pitchFamily="34" charset="0"/>
              </a:rPr>
              <a:t> </a:t>
            </a:r>
            <a:r>
              <a:rPr lang="en-US" sz="3700" dirty="0">
                <a:latin typeface="Century Gothic" panose="020B0502020202020204" pitchFamily="34" charset="0"/>
              </a:rPr>
              <a:t>29</a:t>
            </a:r>
          </a:p>
          <a:p>
            <a:pPr>
              <a:lnSpc>
                <a:spcPct val="170000"/>
              </a:lnSpc>
            </a:pPr>
            <a:r>
              <a:rPr lang="en-US" sz="3500" b="1" dirty="0">
                <a:latin typeface="Century Gothic" panose="020B0502020202020204" pitchFamily="34" charset="0"/>
              </a:rPr>
              <a:t>%ACTIVE CUSTOMERS - </a:t>
            </a:r>
            <a:r>
              <a:rPr lang="en-US" sz="3700" dirty="0">
                <a:latin typeface="Century Gothic" panose="020B0502020202020204" pitchFamily="34" charset="0"/>
              </a:rPr>
              <a:t>71</a:t>
            </a:r>
          </a:p>
          <a:p>
            <a:pPr>
              <a:lnSpc>
                <a:spcPct val="170000"/>
              </a:lnSpc>
            </a:pPr>
            <a:r>
              <a:rPr lang="en-US" sz="3500" b="1" dirty="0">
                <a:latin typeface="Century Gothic" panose="020B0502020202020204" pitchFamily="34" charset="0"/>
              </a:rPr>
              <a:t>AGE GROUP -</a:t>
            </a:r>
            <a:r>
              <a:rPr lang="en-US" sz="3500" dirty="0">
                <a:latin typeface="Century Gothic" panose="020B0502020202020204" pitchFamily="34" charset="0"/>
              </a:rPr>
              <a:t> [</a:t>
            </a:r>
            <a:r>
              <a:rPr lang="en-US" sz="3700" dirty="0">
                <a:latin typeface="Century Gothic" panose="020B0502020202020204" pitchFamily="34" charset="0"/>
              </a:rPr>
              <a:t>Adult = &lt;24, Youth = &lt;40, Mid-Age = &lt;60, Senior = &gt;60]</a:t>
            </a:r>
          </a:p>
          <a:p>
            <a:pPr>
              <a:lnSpc>
                <a:spcPct val="170000"/>
              </a:lnSpc>
            </a:pPr>
            <a:r>
              <a:rPr lang="en-US" sz="3500" b="1" dirty="0">
                <a:latin typeface="Century Gothic" panose="020B0502020202020204" pitchFamily="34" charset="0"/>
              </a:rPr>
              <a:t>DEVICE CATEGORY</a:t>
            </a:r>
            <a:r>
              <a:rPr lang="en-US" sz="3500" dirty="0">
                <a:latin typeface="Century Gothic" panose="020B0502020202020204" pitchFamily="34" charset="0"/>
              </a:rPr>
              <a:t> </a:t>
            </a:r>
            <a:r>
              <a:rPr lang="en-US" sz="3500" b="1" dirty="0">
                <a:latin typeface="Century Gothic" panose="020B0502020202020204" pitchFamily="34" charset="0"/>
              </a:rPr>
              <a:t>-</a:t>
            </a:r>
            <a:r>
              <a:rPr lang="en-US" sz="3500" dirty="0">
                <a:latin typeface="Century Gothic" panose="020B0502020202020204" pitchFamily="34" charset="0"/>
              </a:rPr>
              <a:t>  </a:t>
            </a:r>
            <a:r>
              <a:rPr lang="en-US" sz="3700" dirty="0">
                <a:latin typeface="Century Gothic" panose="020B0502020202020204" pitchFamily="34" charset="0"/>
              </a:rPr>
              <a:t>Router, Mobile SIM, MiFi</a:t>
            </a:r>
          </a:p>
          <a:p>
            <a:pPr>
              <a:lnSpc>
                <a:spcPct val="170000"/>
              </a:lnSpc>
            </a:pPr>
            <a:r>
              <a:rPr lang="en-US" sz="3500" b="1" dirty="0">
                <a:latin typeface="Century Gothic" panose="020B0502020202020204" pitchFamily="34" charset="0"/>
              </a:rPr>
              <a:t>PLAN TYPE CATEGORY - </a:t>
            </a:r>
            <a:r>
              <a:rPr lang="en-US" sz="3700" dirty="0">
                <a:latin typeface="Century Gothic" panose="020B0502020202020204" pitchFamily="34" charset="0"/>
              </a:rPr>
              <a:t>Monthly, Daily, Others(Yearly)</a:t>
            </a:r>
          </a:p>
          <a:p>
            <a:pPr>
              <a:lnSpc>
                <a:spcPct val="170000"/>
              </a:lnSpc>
            </a:pPr>
            <a:r>
              <a:rPr lang="en-US" sz="3700" b="1" dirty="0">
                <a:latin typeface="Century Gothic" panose="020B0502020202020204" pitchFamily="34" charset="0"/>
              </a:rPr>
              <a:t>UNITS FOR DATA ANALYSIS- </a:t>
            </a:r>
            <a:r>
              <a:rPr lang="en-US" sz="3700" dirty="0">
                <a:latin typeface="Century Gothic" panose="020B0502020202020204" pitchFamily="34" charset="0"/>
              </a:rPr>
              <a:t>Gigabyte</a:t>
            </a:r>
          </a:p>
          <a:p>
            <a:pPr marL="0" indent="0">
              <a:lnSpc>
                <a:spcPct val="170000"/>
              </a:lnSpc>
              <a:buNone/>
            </a:pPr>
            <a:endParaRPr lang="en-US" sz="3700" dirty="0">
              <a:latin typeface="Century Gothic" panose="020B0502020202020204" pitchFamily="34" charset="0"/>
            </a:endParaRPr>
          </a:p>
          <a:p>
            <a:pPr>
              <a:lnSpc>
                <a:spcPct val="170000"/>
              </a:lnSpc>
            </a:pPr>
            <a:endParaRPr lang="en-US" dirty="0">
              <a:latin typeface="Century Gothic" panose="020B0502020202020204" pitchFamily="34" charset="0"/>
            </a:endParaRPr>
          </a:p>
          <a:p>
            <a:pPr>
              <a:lnSpc>
                <a:spcPct val="170000"/>
              </a:lnSpc>
            </a:pPr>
            <a:endParaRPr lang="en-US" dirty="0">
              <a:latin typeface="Century Gothic" panose="020B0502020202020204" pitchFamily="34" charset="0"/>
            </a:endParaRPr>
          </a:p>
          <a:p>
            <a:pPr>
              <a:lnSpc>
                <a:spcPct val="170000"/>
              </a:lnSpc>
            </a:pPr>
            <a:endParaRPr lang="en-US" dirty="0">
              <a:latin typeface="Century Gothic" panose="020B0502020202020204" pitchFamily="34" charset="0"/>
            </a:endParaRPr>
          </a:p>
        </p:txBody>
      </p:sp>
      <p:sp>
        <p:nvSpPr>
          <p:cNvPr id="5" name="TextBox 4">
            <a:extLst>
              <a:ext uri="{FF2B5EF4-FFF2-40B4-BE49-F238E27FC236}">
                <a16:creationId xmlns:a16="http://schemas.microsoft.com/office/drawing/2014/main" id="{0A7FD3F8-D05F-70F2-9E00-1DD071832BA1}"/>
              </a:ext>
            </a:extLst>
          </p:cNvPr>
          <p:cNvSpPr txBox="1"/>
          <p:nvPr/>
        </p:nvSpPr>
        <p:spPr>
          <a:xfrm>
            <a:off x="6466332" y="365126"/>
            <a:ext cx="4440936" cy="584775"/>
          </a:xfrm>
          <a:prstGeom prst="rect">
            <a:avLst/>
          </a:prstGeom>
          <a:noFill/>
        </p:spPr>
        <p:txBody>
          <a:bodyPr wrap="square" rtlCol="0">
            <a:spAutoFit/>
          </a:bodyPr>
          <a:lstStyle/>
          <a:p>
            <a:pPr algn="ctr"/>
            <a:r>
              <a:rPr lang="en-US" sz="3200" b="1" dirty="0">
                <a:latin typeface="Century Gothic" panose="020B0502020202020204" pitchFamily="34" charset="0"/>
              </a:rPr>
              <a:t>KPIs</a:t>
            </a:r>
          </a:p>
        </p:txBody>
      </p:sp>
      <p:cxnSp>
        <p:nvCxnSpPr>
          <p:cNvPr id="7" name="Straight Connector 6">
            <a:extLst>
              <a:ext uri="{FF2B5EF4-FFF2-40B4-BE49-F238E27FC236}">
                <a16:creationId xmlns:a16="http://schemas.microsoft.com/office/drawing/2014/main" id="{6E730CA5-06EA-4617-90F2-C64B07B2595F}"/>
              </a:ext>
            </a:extLst>
          </p:cNvPr>
          <p:cNvCxnSpPr>
            <a:cxnSpLocks/>
          </p:cNvCxnSpPr>
          <p:nvPr/>
        </p:nvCxnSpPr>
        <p:spPr>
          <a:xfrm>
            <a:off x="5364480" y="1219200"/>
            <a:ext cx="0" cy="5273673"/>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3321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98DCB15-0557-0200-CCA6-FEE716B5FD25}"/>
              </a:ext>
            </a:extLst>
          </p:cNvPr>
          <p:cNvSpPr>
            <a:spLocks noGrp="1"/>
          </p:cNvSpPr>
          <p:nvPr>
            <p:ph type="title"/>
          </p:nvPr>
        </p:nvSpPr>
        <p:spPr>
          <a:xfrm>
            <a:off x="838200" y="365126"/>
            <a:ext cx="10515600" cy="1045664"/>
          </a:xfrm>
        </p:spPr>
        <p:txBody>
          <a:bodyPr>
            <a:normAutofit fontScale="90000"/>
          </a:bodyPr>
          <a:lstStyle/>
          <a:p>
            <a:pPr algn="ctr"/>
            <a:r>
              <a:rPr lang="en-US" b="1" dirty="0">
                <a:latin typeface="Century Gothic" panose="020B0502020202020204" pitchFamily="34" charset="0"/>
              </a:rPr>
              <a:t>NUMBER OF CUSTOMERS ACROSS THE STATES</a:t>
            </a:r>
          </a:p>
        </p:txBody>
      </p:sp>
      <p:graphicFrame>
        <p:nvGraphicFramePr>
          <p:cNvPr id="9" name="Content Placeholder 8">
            <a:extLst>
              <a:ext uri="{FF2B5EF4-FFF2-40B4-BE49-F238E27FC236}">
                <a16:creationId xmlns:a16="http://schemas.microsoft.com/office/drawing/2014/main" id="{6224E28F-6C80-D124-CAC0-1E99E4DE2E01}"/>
              </a:ext>
            </a:extLst>
          </p:cNvPr>
          <p:cNvGraphicFramePr>
            <a:graphicFrameLocks noGrp="1"/>
          </p:cNvGraphicFramePr>
          <p:nvPr>
            <p:ph sz="half" idx="1"/>
            <p:extLst>
              <p:ext uri="{D42A27DB-BD31-4B8C-83A1-F6EECF244321}">
                <p14:modId xmlns:p14="http://schemas.microsoft.com/office/powerpoint/2010/main" val="3053131452"/>
              </p:ext>
            </p:extLst>
          </p:nvPr>
        </p:nvGraphicFramePr>
        <p:xfrm>
          <a:off x="838200" y="1686288"/>
          <a:ext cx="3054530" cy="5029200"/>
        </p:xfrm>
        <a:graphic>
          <a:graphicData uri="http://schemas.openxmlformats.org/drawingml/2006/table">
            <a:tbl>
              <a:tblPr firstRow="1" bandRow="1">
                <a:tableStyleId>{775DCB02-9BB8-47FD-8907-85C794F793BA}</a:tableStyleId>
              </a:tblPr>
              <a:tblGrid>
                <a:gridCol w="1527265">
                  <a:extLst>
                    <a:ext uri="{9D8B030D-6E8A-4147-A177-3AD203B41FA5}">
                      <a16:colId xmlns:a16="http://schemas.microsoft.com/office/drawing/2014/main" val="2295544395"/>
                    </a:ext>
                  </a:extLst>
                </a:gridCol>
                <a:gridCol w="1527265">
                  <a:extLst>
                    <a:ext uri="{9D8B030D-6E8A-4147-A177-3AD203B41FA5}">
                      <a16:colId xmlns:a16="http://schemas.microsoft.com/office/drawing/2014/main" val="1559302390"/>
                    </a:ext>
                  </a:extLst>
                </a:gridCol>
              </a:tblGrid>
              <a:tr h="586900">
                <a:tc>
                  <a:txBody>
                    <a:bodyPr/>
                    <a:lstStyle/>
                    <a:p>
                      <a:pPr algn="ctr"/>
                      <a:r>
                        <a:rPr lang="en-US" dirty="0">
                          <a:solidFill>
                            <a:schemeClr val="tx1"/>
                          </a:solidFill>
                          <a:latin typeface="Century Gothic" panose="020B0502020202020204" pitchFamily="34" charset="0"/>
                        </a:rPr>
                        <a:t>STATE</a:t>
                      </a:r>
                    </a:p>
                  </a:txBody>
                  <a:tcPr anchor="ctr"/>
                </a:tc>
                <a:tc>
                  <a:txBody>
                    <a:bodyPr/>
                    <a:lstStyle/>
                    <a:p>
                      <a:pPr algn="ctr"/>
                      <a:r>
                        <a:rPr lang="en-US" dirty="0">
                          <a:solidFill>
                            <a:schemeClr val="tx1"/>
                          </a:solidFill>
                          <a:latin typeface="Century Gothic" panose="020B0502020202020204" pitchFamily="34" charset="0"/>
                        </a:rPr>
                        <a:t>CUSTOMER COUNT</a:t>
                      </a:r>
                    </a:p>
                  </a:txBody>
                  <a:tcPr/>
                </a:tc>
                <a:extLst>
                  <a:ext uri="{0D108BD9-81ED-4DB2-BD59-A6C34878D82A}">
                    <a16:rowId xmlns:a16="http://schemas.microsoft.com/office/drawing/2014/main" val="2118889903"/>
                  </a:ext>
                </a:extLst>
              </a:tr>
              <a:tr h="340029">
                <a:tc>
                  <a:txBody>
                    <a:bodyPr/>
                    <a:lstStyle/>
                    <a:p>
                      <a:r>
                        <a:rPr lang="en-US" dirty="0">
                          <a:latin typeface="Century Gothic" panose="020B0502020202020204" pitchFamily="34" charset="0"/>
                        </a:rPr>
                        <a:t>Osun</a:t>
                      </a:r>
                    </a:p>
                  </a:txBody>
                  <a:tcPr/>
                </a:tc>
                <a:tc>
                  <a:txBody>
                    <a:bodyPr/>
                    <a:lstStyle/>
                    <a:p>
                      <a:r>
                        <a:rPr lang="en-US" dirty="0">
                          <a:latin typeface="Century Gothic" panose="020B0502020202020204" pitchFamily="34" charset="0"/>
                        </a:rPr>
                        <a:t>20</a:t>
                      </a:r>
                    </a:p>
                  </a:txBody>
                  <a:tcPr/>
                </a:tc>
                <a:extLst>
                  <a:ext uri="{0D108BD9-81ED-4DB2-BD59-A6C34878D82A}">
                    <a16:rowId xmlns:a16="http://schemas.microsoft.com/office/drawing/2014/main" val="2590870823"/>
                  </a:ext>
                </a:extLst>
              </a:tr>
              <a:tr h="340029">
                <a:tc>
                  <a:txBody>
                    <a:bodyPr/>
                    <a:lstStyle/>
                    <a:p>
                      <a:r>
                        <a:rPr lang="en-US" dirty="0">
                          <a:latin typeface="Century Gothic" panose="020B0502020202020204" pitchFamily="34" charset="0"/>
                        </a:rPr>
                        <a:t>Kogi</a:t>
                      </a:r>
                    </a:p>
                  </a:txBody>
                  <a:tcPr/>
                </a:tc>
                <a:tc>
                  <a:txBody>
                    <a:bodyPr/>
                    <a:lstStyle/>
                    <a:p>
                      <a:r>
                        <a:rPr lang="en-US" dirty="0">
                          <a:latin typeface="Century Gothic" panose="020B0502020202020204" pitchFamily="34" charset="0"/>
                        </a:rPr>
                        <a:t>20</a:t>
                      </a:r>
                    </a:p>
                  </a:txBody>
                  <a:tcPr/>
                </a:tc>
                <a:extLst>
                  <a:ext uri="{0D108BD9-81ED-4DB2-BD59-A6C34878D82A}">
                    <a16:rowId xmlns:a16="http://schemas.microsoft.com/office/drawing/2014/main" val="3132694375"/>
                  </a:ext>
                </a:extLst>
              </a:tr>
              <a:tr h="340029">
                <a:tc>
                  <a:txBody>
                    <a:bodyPr/>
                    <a:lstStyle/>
                    <a:p>
                      <a:r>
                        <a:rPr lang="en-US" dirty="0">
                          <a:latin typeface="Century Gothic" panose="020B0502020202020204" pitchFamily="34" charset="0"/>
                        </a:rPr>
                        <a:t>Bauchi</a:t>
                      </a:r>
                    </a:p>
                  </a:txBody>
                  <a:tcPr/>
                </a:tc>
                <a:tc>
                  <a:txBody>
                    <a:bodyPr/>
                    <a:lstStyle/>
                    <a:p>
                      <a:r>
                        <a:rPr lang="en-US" dirty="0">
                          <a:latin typeface="Century Gothic" panose="020B0502020202020204" pitchFamily="34" charset="0"/>
                        </a:rPr>
                        <a:t>20</a:t>
                      </a:r>
                    </a:p>
                  </a:txBody>
                  <a:tcPr/>
                </a:tc>
                <a:extLst>
                  <a:ext uri="{0D108BD9-81ED-4DB2-BD59-A6C34878D82A}">
                    <a16:rowId xmlns:a16="http://schemas.microsoft.com/office/drawing/2014/main" val="1586699747"/>
                  </a:ext>
                </a:extLst>
              </a:tr>
              <a:tr h="340029">
                <a:tc>
                  <a:txBody>
                    <a:bodyPr/>
                    <a:lstStyle/>
                    <a:p>
                      <a:r>
                        <a:rPr lang="en-US" dirty="0">
                          <a:latin typeface="Century Gothic" panose="020B0502020202020204" pitchFamily="34" charset="0"/>
                        </a:rPr>
                        <a:t>Abia</a:t>
                      </a:r>
                    </a:p>
                  </a:txBody>
                  <a:tcPr/>
                </a:tc>
                <a:tc>
                  <a:txBody>
                    <a:bodyPr/>
                    <a:lstStyle/>
                    <a:p>
                      <a:r>
                        <a:rPr lang="en-US" dirty="0">
                          <a:latin typeface="Century Gothic" panose="020B0502020202020204" pitchFamily="34" charset="0"/>
                        </a:rPr>
                        <a:t>18</a:t>
                      </a:r>
                    </a:p>
                  </a:txBody>
                  <a:tcPr/>
                </a:tc>
                <a:extLst>
                  <a:ext uri="{0D108BD9-81ED-4DB2-BD59-A6C34878D82A}">
                    <a16:rowId xmlns:a16="http://schemas.microsoft.com/office/drawing/2014/main" val="2919412290"/>
                  </a:ext>
                </a:extLst>
              </a:tr>
              <a:tr h="340029">
                <a:tc>
                  <a:txBody>
                    <a:bodyPr/>
                    <a:lstStyle/>
                    <a:p>
                      <a:r>
                        <a:rPr lang="en-US" dirty="0">
                          <a:latin typeface="Century Gothic" panose="020B0502020202020204" pitchFamily="34" charset="0"/>
                        </a:rPr>
                        <a:t>Borno</a:t>
                      </a:r>
                    </a:p>
                  </a:txBody>
                  <a:tcPr/>
                </a:tc>
                <a:tc>
                  <a:txBody>
                    <a:bodyPr/>
                    <a:lstStyle/>
                    <a:p>
                      <a:r>
                        <a:rPr lang="en-US" dirty="0">
                          <a:latin typeface="Century Gothic" panose="020B0502020202020204" pitchFamily="34" charset="0"/>
                        </a:rPr>
                        <a:t>18</a:t>
                      </a:r>
                    </a:p>
                  </a:txBody>
                  <a:tcPr/>
                </a:tc>
                <a:extLst>
                  <a:ext uri="{0D108BD9-81ED-4DB2-BD59-A6C34878D82A}">
                    <a16:rowId xmlns:a16="http://schemas.microsoft.com/office/drawing/2014/main" val="1672885584"/>
                  </a:ext>
                </a:extLst>
              </a:tr>
              <a:tr h="340029">
                <a:tc>
                  <a:txBody>
                    <a:bodyPr/>
                    <a:lstStyle/>
                    <a:p>
                      <a:r>
                        <a:rPr lang="en-US" dirty="0">
                          <a:latin typeface="Century Gothic" panose="020B0502020202020204" pitchFamily="34" charset="0"/>
                        </a:rPr>
                        <a:t>Yobe</a:t>
                      </a:r>
                    </a:p>
                  </a:txBody>
                  <a:tcPr/>
                </a:tc>
                <a:tc>
                  <a:txBody>
                    <a:bodyPr/>
                    <a:lstStyle/>
                    <a:p>
                      <a:r>
                        <a:rPr lang="en-US" dirty="0">
                          <a:latin typeface="Century Gothic" panose="020B0502020202020204" pitchFamily="34" charset="0"/>
                        </a:rPr>
                        <a:t>17</a:t>
                      </a:r>
                    </a:p>
                  </a:txBody>
                  <a:tcPr/>
                </a:tc>
                <a:extLst>
                  <a:ext uri="{0D108BD9-81ED-4DB2-BD59-A6C34878D82A}">
                    <a16:rowId xmlns:a16="http://schemas.microsoft.com/office/drawing/2014/main" val="3338065102"/>
                  </a:ext>
                </a:extLst>
              </a:tr>
              <a:tr h="340029">
                <a:tc>
                  <a:txBody>
                    <a:bodyPr/>
                    <a:lstStyle/>
                    <a:p>
                      <a:r>
                        <a:rPr lang="en-US" dirty="0">
                          <a:latin typeface="Century Gothic" panose="020B0502020202020204" pitchFamily="34" charset="0"/>
                        </a:rPr>
                        <a:t>Abuja (FCT)</a:t>
                      </a:r>
                    </a:p>
                  </a:txBody>
                  <a:tcPr/>
                </a:tc>
                <a:tc>
                  <a:txBody>
                    <a:bodyPr/>
                    <a:lstStyle/>
                    <a:p>
                      <a:r>
                        <a:rPr lang="en-US" dirty="0">
                          <a:latin typeface="Century Gothic" panose="020B0502020202020204" pitchFamily="34" charset="0"/>
                        </a:rPr>
                        <a:t>17</a:t>
                      </a:r>
                    </a:p>
                  </a:txBody>
                  <a:tcPr/>
                </a:tc>
                <a:extLst>
                  <a:ext uri="{0D108BD9-81ED-4DB2-BD59-A6C34878D82A}">
                    <a16:rowId xmlns:a16="http://schemas.microsoft.com/office/drawing/2014/main" val="560538227"/>
                  </a:ext>
                </a:extLst>
              </a:tr>
              <a:tr h="340029">
                <a:tc>
                  <a:txBody>
                    <a:bodyPr/>
                    <a:lstStyle/>
                    <a:p>
                      <a:r>
                        <a:rPr lang="en-US" dirty="0">
                          <a:latin typeface="Century Gothic" panose="020B0502020202020204" pitchFamily="34" charset="0"/>
                        </a:rPr>
                        <a:t>Enugu</a:t>
                      </a:r>
                    </a:p>
                  </a:txBody>
                  <a:tcPr/>
                </a:tc>
                <a:tc>
                  <a:txBody>
                    <a:bodyPr/>
                    <a:lstStyle/>
                    <a:p>
                      <a:r>
                        <a:rPr lang="en-US" dirty="0">
                          <a:latin typeface="Century Gothic" panose="020B0502020202020204" pitchFamily="34" charset="0"/>
                        </a:rPr>
                        <a:t>17</a:t>
                      </a:r>
                    </a:p>
                  </a:txBody>
                  <a:tcPr/>
                </a:tc>
                <a:extLst>
                  <a:ext uri="{0D108BD9-81ED-4DB2-BD59-A6C34878D82A}">
                    <a16:rowId xmlns:a16="http://schemas.microsoft.com/office/drawing/2014/main" val="4119584206"/>
                  </a:ext>
                </a:extLst>
              </a:tr>
              <a:tr h="340029">
                <a:tc>
                  <a:txBody>
                    <a:bodyPr/>
                    <a:lstStyle/>
                    <a:p>
                      <a:r>
                        <a:rPr lang="en-US" dirty="0">
                          <a:latin typeface="Century Gothic" panose="020B0502020202020204" pitchFamily="34" charset="0"/>
                        </a:rPr>
                        <a:t>Oyo</a:t>
                      </a:r>
                    </a:p>
                  </a:txBody>
                  <a:tcPr/>
                </a:tc>
                <a:tc>
                  <a:txBody>
                    <a:bodyPr/>
                    <a:lstStyle/>
                    <a:p>
                      <a:r>
                        <a:rPr lang="en-US" dirty="0">
                          <a:latin typeface="Century Gothic" panose="020B0502020202020204" pitchFamily="34" charset="0"/>
                        </a:rPr>
                        <a:t>17</a:t>
                      </a:r>
                    </a:p>
                  </a:txBody>
                  <a:tcPr/>
                </a:tc>
                <a:extLst>
                  <a:ext uri="{0D108BD9-81ED-4DB2-BD59-A6C34878D82A}">
                    <a16:rowId xmlns:a16="http://schemas.microsoft.com/office/drawing/2014/main" val="3593747454"/>
                  </a:ext>
                </a:extLst>
              </a:tr>
              <a:tr h="340029">
                <a:tc>
                  <a:txBody>
                    <a:bodyPr/>
                    <a:lstStyle/>
                    <a:p>
                      <a:r>
                        <a:rPr lang="en-US" dirty="0">
                          <a:latin typeface="Century Gothic" panose="020B0502020202020204" pitchFamily="34" charset="0"/>
                        </a:rPr>
                        <a:t>Gombe</a:t>
                      </a:r>
                    </a:p>
                  </a:txBody>
                  <a:tcPr/>
                </a:tc>
                <a:tc>
                  <a:txBody>
                    <a:bodyPr/>
                    <a:lstStyle/>
                    <a:p>
                      <a:r>
                        <a:rPr lang="en-US" dirty="0">
                          <a:latin typeface="Century Gothic" panose="020B0502020202020204" pitchFamily="34" charset="0"/>
                        </a:rPr>
                        <a:t>16</a:t>
                      </a:r>
                    </a:p>
                  </a:txBody>
                  <a:tcPr/>
                </a:tc>
                <a:extLst>
                  <a:ext uri="{0D108BD9-81ED-4DB2-BD59-A6C34878D82A}">
                    <a16:rowId xmlns:a16="http://schemas.microsoft.com/office/drawing/2014/main" val="2967147703"/>
                  </a:ext>
                </a:extLst>
              </a:tr>
              <a:tr h="340029">
                <a:tc>
                  <a:txBody>
                    <a:bodyPr/>
                    <a:lstStyle/>
                    <a:p>
                      <a:r>
                        <a:rPr lang="en-US" dirty="0">
                          <a:latin typeface="Century Gothic" panose="020B0502020202020204" pitchFamily="34" charset="0"/>
                        </a:rPr>
                        <a:t>Benue</a:t>
                      </a:r>
                    </a:p>
                  </a:txBody>
                  <a:tcPr/>
                </a:tc>
                <a:tc>
                  <a:txBody>
                    <a:bodyPr/>
                    <a:lstStyle/>
                    <a:p>
                      <a:r>
                        <a:rPr lang="en-US" dirty="0">
                          <a:latin typeface="Century Gothic" panose="020B0502020202020204" pitchFamily="34" charset="0"/>
                        </a:rPr>
                        <a:t>16</a:t>
                      </a:r>
                    </a:p>
                  </a:txBody>
                  <a:tcPr/>
                </a:tc>
                <a:extLst>
                  <a:ext uri="{0D108BD9-81ED-4DB2-BD59-A6C34878D82A}">
                    <a16:rowId xmlns:a16="http://schemas.microsoft.com/office/drawing/2014/main" val="3942305123"/>
                  </a:ext>
                </a:extLst>
              </a:tr>
              <a:tr h="340029">
                <a:tc>
                  <a:txBody>
                    <a:bodyPr/>
                    <a:lstStyle/>
                    <a:p>
                      <a:r>
                        <a:rPr lang="en-US" dirty="0">
                          <a:latin typeface="Century Gothic" panose="020B0502020202020204" pitchFamily="34" charset="0"/>
                        </a:rPr>
                        <a:t>Imo</a:t>
                      </a:r>
                    </a:p>
                  </a:txBody>
                  <a:tcPr/>
                </a:tc>
                <a:tc>
                  <a:txBody>
                    <a:bodyPr/>
                    <a:lstStyle/>
                    <a:p>
                      <a:r>
                        <a:rPr lang="en-US" dirty="0">
                          <a:latin typeface="Century Gothic" panose="020B0502020202020204" pitchFamily="34" charset="0"/>
                        </a:rPr>
                        <a:t>16</a:t>
                      </a:r>
                    </a:p>
                  </a:txBody>
                  <a:tcPr/>
                </a:tc>
                <a:extLst>
                  <a:ext uri="{0D108BD9-81ED-4DB2-BD59-A6C34878D82A}">
                    <a16:rowId xmlns:a16="http://schemas.microsoft.com/office/drawing/2014/main" val="2442488698"/>
                  </a:ext>
                </a:extLst>
              </a:tr>
            </a:tbl>
          </a:graphicData>
        </a:graphic>
      </p:graphicFrame>
      <p:graphicFrame>
        <p:nvGraphicFramePr>
          <p:cNvPr id="10" name="Content Placeholder 8">
            <a:extLst>
              <a:ext uri="{FF2B5EF4-FFF2-40B4-BE49-F238E27FC236}">
                <a16:creationId xmlns:a16="http://schemas.microsoft.com/office/drawing/2014/main" id="{C17452FD-B62F-4811-EEB9-83374CB259CB}"/>
              </a:ext>
            </a:extLst>
          </p:cNvPr>
          <p:cNvGraphicFramePr>
            <a:graphicFrameLocks/>
          </p:cNvGraphicFramePr>
          <p:nvPr>
            <p:extLst>
              <p:ext uri="{D42A27DB-BD31-4B8C-83A1-F6EECF244321}">
                <p14:modId xmlns:p14="http://schemas.microsoft.com/office/powerpoint/2010/main" val="3039939471"/>
              </p:ext>
            </p:extLst>
          </p:nvPr>
        </p:nvGraphicFramePr>
        <p:xfrm>
          <a:off x="4568734" y="1686288"/>
          <a:ext cx="3054532" cy="5090160"/>
        </p:xfrm>
        <a:graphic>
          <a:graphicData uri="http://schemas.openxmlformats.org/drawingml/2006/table">
            <a:tbl>
              <a:tblPr firstRow="1" bandRow="1">
                <a:tableStyleId>{775DCB02-9BB8-47FD-8907-85C794F793BA}</a:tableStyleId>
              </a:tblPr>
              <a:tblGrid>
                <a:gridCol w="1527266">
                  <a:extLst>
                    <a:ext uri="{9D8B030D-6E8A-4147-A177-3AD203B41FA5}">
                      <a16:colId xmlns:a16="http://schemas.microsoft.com/office/drawing/2014/main" val="2295544395"/>
                    </a:ext>
                  </a:extLst>
                </a:gridCol>
                <a:gridCol w="1527266">
                  <a:extLst>
                    <a:ext uri="{9D8B030D-6E8A-4147-A177-3AD203B41FA5}">
                      <a16:colId xmlns:a16="http://schemas.microsoft.com/office/drawing/2014/main" val="1559302390"/>
                    </a:ext>
                  </a:extLst>
                </a:gridCol>
              </a:tblGrid>
              <a:tr h="370840">
                <a:tc>
                  <a:txBody>
                    <a:bodyPr/>
                    <a:lstStyle/>
                    <a:p>
                      <a:pPr algn="ctr"/>
                      <a:r>
                        <a:rPr lang="en-US" dirty="0">
                          <a:solidFill>
                            <a:schemeClr val="tx1"/>
                          </a:solidFill>
                          <a:latin typeface="Century Gothic" panose="020B0502020202020204" pitchFamily="34" charset="0"/>
                        </a:rPr>
                        <a:t>STATE</a:t>
                      </a:r>
                    </a:p>
                  </a:txBody>
                  <a:tcPr anchor="ctr"/>
                </a:tc>
                <a:tc>
                  <a:txBody>
                    <a:bodyPr/>
                    <a:lstStyle/>
                    <a:p>
                      <a:pPr algn="ctr"/>
                      <a:r>
                        <a:rPr lang="en-US" dirty="0">
                          <a:solidFill>
                            <a:schemeClr val="tx1"/>
                          </a:solidFill>
                          <a:latin typeface="Century Gothic" panose="020B0502020202020204" pitchFamily="34" charset="0"/>
                        </a:rPr>
                        <a:t>CUSTOMER COUNT</a:t>
                      </a:r>
                    </a:p>
                  </a:txBody>
                  <a:tcPr/>
                </a:tc>
                <a:extLst>
                  <a:ext uri="{0D108BD9-81ED-4DB2-BD59-A6C34878D82A}">
                    <a16:rowId xmlns:a16="http://schemas.microsoft.com/office/drawing/2014/main" val="2118889903"/>
                  </a:ext>
                </a:extLst>
              </a:tr>
              <a:tr h="370840">
                <a:tc>
                  <a:txBody>
                    <a:bodyPr/>
                    <a:lstStyle/>
                    <a:p>
                      <a:r>
                        <a:rPr lang="en-US" dirty="0">
                          <a:latin typeface="Century Gothic" panose="020B0502020202020204" pitchFamily="34" charset="0"/>
                        </a:rPr>
                        <a:t>Ekiti</a:t>
                      </a:r>
                    </a:p>
                  </a:txBody>
                  <a:tcPr/>
                </a:tc>
                <a:tc>
                  <a:txBody>
                    <a:bodyPr/>
                    <a:lstStyle/>
                    <a:p>
                      <a:r>
                        <a:rPr lang="en-US" dirty="0">
                          <a:latin typeface="Century Gothic" panose="020B0502020202020204" pitchFamily="34" charset="0"/>
                        </a:rPr>
                        <a:t>16</a:t>
                      </a:r>
                    </a:p>
                  </a:txBody>
                  <a:tcPr/>
                </a:tc>
                <a:extLst>
                  <a:ext uri="{0D108BD9-81ED-4DB2-BD59-A6C34878D82A}">
                    <a16:rowId xmlns:a16="http://schemas.microsoft.com/office/drawing/2014/main" val="335435026"/>
                  </a:ext>
                </a:extLst>
              </a:tr>
              <a:tr h="370840">
                <a:tc>
                  <a:txBody>
                    <a:bodyPr/>
                    <a:lstStyle/>
                    <a:p>
                      <a:r>
                        <a:rPr lang="en-US" dirty="0">
                          <a:latin typeface="Century Gothic" panose="020B0502020202020204" pitchFamily="34" charset="0"/>
                        </a:rPr>
                        <a:t>Edo</a:t>
                      </a:r>
                    </a:p>
                  </a:txBody>
                  <a:tcPr/>
                </a:tc>
                <a:tc>
                  <a:txBody>
                    <a:bodyPr/>
                    <a:lstStyle/>
                    <a:p>
                      <a:r>
                        <a:rPr lang="en-US" dirty="0">
                          <a:latin typeface="Century Gothic" panose="020B0502020202020204" pitchFamily="34" charset="0"/>
                        </a:rPr>
                        <a:t>16</a:t>
                      </a:r>
                    </a:p>
                  </a:txBody>
                  <a:tcPr/>
                </a:tc>
                <a:extLst>
                  <a:ext uri="{0D108BD9-81ED-4DB2-BD59-A6C34878D82A}">
                    <a16:rowId xmlns:a16="http://schemas.microsoft.com/office/drawing/2014/main" val="2590870823"/>
                  </a:ext>
                </a:extLst>
              </a:tr>
              <a:tr h="370840">
                <a:tc>
                  <a:txBody>
                    <a:bodyPr/>
                    <a:lstStyle/>
                    <a:p>
                      <a:r>
                        <a:rPr lang="en-US" dirty="0">
                          <a:latin typeface="Century Gothic" panose="020B0502020202020204" pitchFamily="34" charset="0"/>
                        </a:rPr>
                        <a:t>Katsina</a:t>
                      </a:r>
                    </a:p>
                  </a:txBody>
                  <a:tcPr/>
                </a:tc>
                <a:tc>
                  <a:txBody>
                    <a:bodyPr/>
                    <a:lstStyle/>
                    <a:p>
                      <a:r>
                        <a:rPr lang="en-US" dirty="0">
                          <a:latin typeface="Century Gothic" panose="020B0502020202020204" pitchFamily="34" charset="0"/>
                        </a:rPr>
                        <a:t>16</a:t>
                      </a:r>
                    </a:p>
                  </a:txBody>
                  <a:tcPr/>
                </a:tc>
                <a:extLst>
                  <a:ext uri="{0D108BD9-81ED-4DB2-BD59-A6C34878D82A}">
                    <a16:rowId xmlns:a16="http://schemas.microsoft.com/office/drawing/2014/main" val="3132694375"/>
                  </a:ext>
                </a:extLst>
              </a:tr>
              <a:tr h="370840">
                <a:tc>
                  <a:txBody>
                    <a:bodyPr/>
                    <a:lstStyle/>
                    <a:p>
                      <a:r>
                        <a:rPr lang="en-US" dirty="0">
                          <a:latin typeface="Century Gothic" panose="020B0502020202020204" pitchFamily="34" charset="0"/>
                        </a:rPr>
                        <a:t>Zamfara</a:t>
                      </a:r>
                    </a:p>
                  </a:txBody>
                  <a:tcPr/>
                </a:tc>
                <a:tc>
                  <a:txBody>
                    <a:bodyPr/>
                    <a:lstStyle/>
                    <a:p>
                      <a:r>
                        <a:rPr lang="en-US" dirty="0">
                          <a:latin typeface="Century Gothic" panose="020B0502020202020204" pitchFamily="34" charset="0"/>
                        </a:rPr>
                        <a:t>15</a:t>
                      </a:r>
                    </a:p>
                  </a:txBody>
                  <a:tcPr/>
                </a:tc>
                <a:extLst>
                  <a:ext uri="{0D108BD9-81ED-4DB2-BD59-A6C34878D82A}">
                    <a16:rowId xmlns:a16="http://schemas.microsoft.com/office/drawing/2014/main" val="1586699747"/>
                  </a:ext>
                </a:extLst>
              </a:tr>
              <a:tr h="370840">
                <a:tc>
                  <a:txBody>
                    <a:bodyPr/>
                    <a:lstStyle/>
                    <a:p>
                      <a:r>
                        <a:rPr lang="en-US" dirty="0">
                          <a:latin typeface="Century Gothic" panose="020B0502020202020204" pitchFamily="34" charset="0"/>
                        </a:rPr>
                        <a:t>Anambra</a:t>
                      </a:r>
                    </a:p>
                  </a:txBody>
                  <a:tcPr/>
                </a:tc>
                <a:tc>
                  <a:txBody>
                    <a:bodyPr/>
                    <a:lstStyle/>
                    <a:p>
                      <a:r>
                        <a:rPr lang="en-US" dirty="0">
                          <a:latin typeface="Century Gothic" panose="020B0502020202020204" pitchFamily="34" charset="0"/>
                        </a:rPr>
                        <a:t>15</a:t>
                      </a:r>
                    </a:p>
                  </a:txBody>
                  <a:tcPr/>
                </a:tc>
                <a:extLst>
                  <a:ext uri="{0D108BD9-81ED-4DB2-BD59-A6C34878D82A}">
                    <a16:rowId xmlns:a16="http://schemas.microsoft.com/office/drawing/2014/main" val="2919412290"/>
                  </a:ext>
                </a:extLst>
              </a:tr>
              <a:tr h="370840">
                <a:tc>
                  <a:txBody>
                    <a:bodyPr/>
                    <a:lstStyle/>
                    <a:p>
                      <a:r>
                        <a:rPr lang="en-US" dirty="0">
                          <a:latin typeface="Century Gothic" panose="020B0502020202020204" pitchFamily="34" charset="0"/>
                        </a:rPr>
                        <a:t>Nasarawa</a:t>
                      </a:r>
                    </a:p>
                  </a:txBody>
                  <a:tcPr/>
                </a:tc>
                <a:tc>
                  <a:txBody>
                    <a:bodyPr/>
                    <a:lstStyle/>
                    <a:p>
                      <a:r>
                        <a:rPr lang="en-US" dirty="0">
                          <a:latin typeface="Century Gothic" panose="020B0502020202020204" pitchFamily="34" charset="0"/>
                        </a:rPr>
                        <a:t>15</a:t>
                      </a:r>
                    </a:p>
                  </a:txBody>
                  <a:tcPr/>
                </a:tc>
                <a:extLst>
                  <a:ext uri="{0D108BD9-81ED-4DB2-BD59-A6C34878D82A}">
                    <a16:rowId xmlns:a16="http://schemas.microsoft.com/office/drawing/2014/main" val="1672885584"/>
                  </a:ext>
                </a:extLst>
              </a:tr>
              <a:tr h="370840">
                <a:tc>
                  <a:txBody>
                    <a:bodyPr/>
                    <a:lstStyle/>
                    <a:p>
                      <a:r>
                        <a:rPr lang="en-US" dirty="0">
                          <a:latin typeface="Century Gothic" panose="020B0502020202020204" pitchFamily="34" charset="0"/>
                        </a:rPr>
                        <a:t>Sokoto</a:t>
                      </a:r>
                    </a:p>
                  </a:txBody>
                  <a:tcPr/>
                </a:tc>
                <a:tc>
                  <a:txBody>
                    <a:bodyPr/>
                    <a:lstStyle/>
                    <a:p>
                      <a:r>
                        <a:rPr lang="en-US" dirty="0">
                          <a:latin typeface="Century Gothic" panose="020B0502020202020204" pitchFamily="34" charset="0"/>
                        </a:rPr>
                        <a:t>14</a:t>
                      </a:r>
                    </a:p>
                  </a:txBody>
                  <a:tcPr/>
                </a:tc>
                <a:extLst>
                  <a:ext uri="{0D108BD9-81ED-4DB2-BD59-A6C34878D82A}">
                    <a16:rowId xmlns:a16="http://schemas.microsoft.com/office/drawing/2014/main" val="3338065102"/>
                  </a:ext>
                </a:extLst>
              </a:tr>
              <a:tr h="370840">
                <a:tc>
                  <a:txBody>
                    <a:bodyPr/>
                    <a:lstStyle/>
                    <a:p>
                      <a:r>
                        <a:rPr lang="en-US" dirty="0">
                          <a:latin typeface="Century Gothic" panose="020B0502020202020204" pitchFamily="34" charset="0"/>
                        </a:rPr>
                        <a:t>Cross River</a:t>
                      </a:r>
                    </a:p>
                  </a:txBody>
                  <a:tcPr/>
                </a:tc>
                <a:tc>
                  <a:txBody>
                    <a:bodyPr/>
                    <a:lstStyle/>
                    <a:p>
                      <a:r>
                        <a:rPr lang="en-US" dirty="0">
                          <a:latin typeface="Century Gothic" panose="020B0502020202020204" pitchFamily="34" charset="0"/>
                        </a:rPr>
                        <a:t>14</a:t>
                      </a:r>
                    </a:p>
                  </a:txBody>
                  <a:tcPr/>
                </a:tc>
                <a:extLst>
                  <a:ext uri="{0D108BD9-81ED-4DB2-BD59-A6C34878D82A}">
                    <a16:rowId xmlns:a16="http://schemas.microsoft.com/office/drawing/2014/main" val="560538227"/>
                  </a:ext>
                </a:extLst>
              </a:tr>
              <a:tr h="370840">
                <a:tc>
                  <a:txBody>
                    <a:bodyPr/>
                    <a:lstStyle/>
                    <a:p>
                      <a:r>
                        <a:rPr lang="en-US" dirty="0">
                          <a:latin typeface="Century Gothic" panose="020B0502020202020204" pitchFamily="34" charset="0"/>
                        </a:rPr>
                        <a:t>Kebbi</a:t>
                      </a:r>
                    </a:p>
                  </a:txBody>
                  <a:tcPr/>
                </a:tc>
                <a:tc>
                  <a:txBody>
                    <a:bodyPr/>
                    <a:lstStyle/>
                    <a:p>
                      <a:r>
                        <a:rPr lang="en-US" dirty="0">
                          <a:latin typeface="Century Gothic" panose="020B0502020202020204" pitchFamily="34" charset="0"/>
                        </a:rPr>
                        <a:t>14</a:t>
                      </a:r>
                    </a:p>
                  </a:txBody>
                  <a:tcPr/>
                </a:tc>
                <a:extLst>
                  <a:ext uri="{0D108BD9-81ED-4DB2-BD59-A6C34878D82A}">
                    <a16:rowId xmlns:a16="http://schemas.microsoft.com/office/drawing/2014/main" val="3593747454"/>
                  </a:ext>
                </a:extLst>
              </a:tr>
              <a:tr h="370840">
                <a:tc>
                  <a:txBody>
                    <a:bodyPr/>
                    <a:lstStyle/>
                    <a:p>
                      <a:r>
                        <a:rPr lang="en-US" dirty="0">
                          <a:latin typeface="Century Gothic" panose="020B0502020202020204" pitchFamily="34" charset="0"/>
                        </a:rPr>
                        <a:t>Taraba</a:t>
                      </a:r>
                    </a:p>
                  </a:txBody>
                  <a:tcPr/>
                </a:tc>
                <a:tc>
                  <a:txBody>
                    <a:bodyPr/>
                    <a:lstStyle/>
                    <a:p>
                      <a:r>
                        <a:rPr lang="en-US" dirty="0">
                          <a:latin typeface="Century Gothic" panose="020B0502020202020204" pitchFamily="34" charset="0"/>
                        </a:rPr>
                        <a:t>13</a:t>
                      </a:r>
                    </a:p>
                  </a:txBody>
                  <a:tcPr/>
                </a:tc>
                <a:extLst>
                  <a:ext uri="{0D108BD9-81ED-4DB2-BD59-A6C34878D82A}">
                    <a16:rowId xmlns:a16="http://schemas.microsoft.com/office/drawing/2014/main" val="2967147703"/>
                  </a:ext>
                </a:extLst>
              </a:tr>
              <a:tr h="370840">
                <a:tc>
                  <a:txBody>
                    <a:bodyPr/>
                    <a:lstStyle/>
                    <a:p>
                      <a:r>
                        <a:rPr lang="en-US" dirty="0">
                          <a:latin typeface="Century Gothic" panose="020B0502020202020204" pitchFamily="34" charset="0"/>
                        </a:rPr>
                        <a:t>Plateau</a:t>
                      </a:r>
                    </a:p>
                  </a:txBody>
                  <a:tcPr/>
                </a:tc>
                <a:tc>
                  <a:txBody>
                    <a:bodyPr/>
                    <a:lstStyle/>
                    <a:p>
                      <a:r>
                        <a:rPr lang="en-US" dirty="0">
                          <a:latin typeface="Century Gothic" panose="020B0502020202020204" pitchFamily="34" charset="0"/>
                        </a:rPr>
                        <a:t>13</a:t>
                      </a:r>
                    </a:p>
                  </a:txBody>
                  <a:tcPr/>
                </a:tc>
                <a:extLst>
                  <a:ext uri="{0D108BD9-81ED-4DB2-BD59-A6C34878D82A}">
                    <a16:rowId xmlns:a16="http://schemas.microsoft.com/office/drawing/2014/main" val="3942305123"/>
                  </a:ext>
                </a:extLst>
              </a:tr>
              <a:tr h="370840">
                <a:tc>
                  <a:txBody>
                    <a:bodyPr/>
                    <a:lstStyle/>
                    <a:p>
                      <a:r>
                        <a:rPr lang="en-US" dirty="0">
                          <a:latin typeface="Century Gothic" panose="020B0502020202020204" pitchFamily="34" charset="0"/>
                        </a:rPr>
                        <a:t>Jigawa</a:t>
                      </a:r>
                    </a:p>
                  </a:txBody>
                  <a:tcPr/>
                </a:tc>
                <a:tc>
                  <a:txBody>
                    <a:bodyPr/>
                    <a:lstStyle/>
                    <a:p>
                      <a:r>
                        <a:rPr lang="en-US" dirty="0">
                          <a:latin typeface="Century Gothic" panose="020B0502020202020204" pitchFamily="34" charset="0"/>
                        </a:rPr>
                        <a:t>13</a:t>
                      </a:r>
                    </a:p>
                  </a:txBody>
                  <a:tcPr/>
                </a:tc>
                <a:extLst>
                  <a:ext uri="{0D108BD9-81ED-4DB2-BD59-A6C34878D82A}">
                    <a16:rowId xmlns:a16="http://schemas.microsoft.com/office/drawing/2014/main" val="2442488698"/>
                  </a:ext>
                </a:extLst>
              </a:tr>
            </a:tbl>
          </a:graphicData>
        </a:graphic>
      </p:graphicFrame>
      <p:graphicFrame>
        <p:nvGraphicFramePr>
          <p:cNvPr id="11" name="Content Placeholder 8">
            <a:extLst>
              <a:ext uri="{FF2B5EF4-FFF2-40B4-BE49-F238E27FC236}">
                <a16:creationId xmlns:a16="http://schemas.microsoft.com/office/drawing/2014/main" id="{3C2955DC-A27E-D0AA-DA54-F850DC0089A3}"/>
              </a:ext>
            </a:extLst>
          </p:cNvPr>
          <p:cNvGraphicFramePr>
            <a:graphicFrameLocks/>
          </p:cNvGraphicFramePr>
          <p:nvPr>
            <p:extLst>
              <p:ext uri="{D42A27DB-BD31-4B8C-83A1-F6EECF244321}">
                <p14:modId xmlns:p14="http://schemas.microsoft.com/office/powerpoint/2010/main" val="612815471"/>
              </p:ext>
            </p:extLst>
          </p:nvPr>
        </p:nvGraphicFramePr>
        <p:xfrm>
          <a:off x="8299268" y="1686288"/>
          <a:ext cx="3054532" cy="5090160"/>
        </p:xfrm>
        <a:graphic>
          <a:graphicData uri="http://schemas.openxmlformats.org/drawingml/2006/table">
            <a:tbl>
              <a:tblPr firstRow="1" bandRow="1">
                <a:tableStyleId>{775DCB02-9BB8-47FD-8907-85C794F793BA}</a:tableStyleId>
              </a:tblPr>
              <a:tblGrid>
                <a:gridCol w="1527266">
                  <a:extLst>
                    <a:ext uri="{9D8B030D-6E8A-4147-A177-3AD203B41FA5}">
                      <a16:colId xmlns:a16="http://schemas.microsoft.com/office/drawing/2014/main" val="2295544395"/>
                    </a:ext>
                  </a:extLst>
                </a:gridCol>
                <a:gridCol w="1527266">
                  <a:extLst>
                    <a:ext uri="{9D8B030D-6E8A-4147-A177-3AD203B41FA5}">
                      <a16:colId xmlns:a16="http://schemas.microsoft.com/office/drawing/2014/main" val="1559302390"/>
                    </a:ext>
                  </a:extLst>
                </a:gridCol>
              </a:tblGrid>
              <a:tr h="370840">
                <a:tc>
                  <a:txBody>
                    <a:bodyPr/>
                    <a:lstStyle/>
                    <a:p>
                      <a:pPr algn="ctr"/>
                      <a:r>
                        <a:rPr lang="en-US" dirty="0">
                          <a:solidFill>
                            <a:schemeClr val="tx1"/>
                          </a:solidFill>
                          <a:latin typeface="Century Gothic" panose="020B0502020202020204" pitchFamily="34" charset="0"/>
                        </a:rPr>
                        <a:t>STATE</a:t>
                      </a:r>
                    </a:p>
                  </a:txBody>
                  <a:tcPr anchor="ctr"/>
                </a:tc>
                <a:tc>
                  <a:txBody>
                    <a:bodyPr/>
                    <a:lstStyle/>
                    <a:p>
                      <a:pPr algn="ctr"/>
                      <a:r>
                        <a:rPr lang="en-US" dirty="0">
                          <a:solidFill>
                            <a:schemeClr val="tx1"/>
                          </a:solidFill>
                          <a:latin typeface="Century Gothic" panose="020B0502020202020204" pitchFamily="34" charset="0"/>
                        </a:rPr>
                        <a:t>CUSTOMER COUNT</a:t>
                      </a:r>
                    </a:p>
                  </a:txBody>
                  <a:tcPr/>
                </a:tc>
                <a:extLst>
                  <a:ext uri="{0D108BD9-81ED-4DB2-BD59-A6C34878D82A}">
                    <a16:rowId xmlns:a16="http://schemas.microsoft.com/office/drawing/2014/main" val="2118889903"/>
                  </a:ext>
                </a:extLst>
              </a:tr>
              <a:tr h="370840">
                <a:tc>
                  <a:txBody>
                    <a:bodyPr/>
                    <a:lstStyle/>
                    <a:p>
                      <a:r>
                        <a:rPr lang="en-US" dirty="0">
                          <a:latin typeface="Century Gothic" panose="020B0502020202020204" pitchFamily="34" charset="0"/>
                        </a:rPr>
                        <a:t>Niger</a:t>
                      </a:r>
                    </a:p>
                  </a:txBody>
                  <a:tcPr/>
                </a:tc>
                <a:tc>
                  <a:txBody>
                    <a:bodyPr/>
                    <a:lstStyle/>
                    <a:p>
                      <a:r>
                        <a:rPr lang="en-US" dirty="0">
                          <a:latin typeface="Century Gothic" panose="020B0502020202020204" pitchFamily="34" charset="0"/>
                        </a:rPr>
                        <a:t>12</a:t>
                      </a:r>
                    </a:p>
                  </a:txBody>
                  <a:tcPr/>
                </a:tc>
                <a:extLst>
                  <a:ext uri="{0D108BD9-81ED-4DB2-BD59-A6C34878D82A}">
                    <a16:rowId xmlns:a16="http://schemas.microsoft.com/office/drawing/2014/main" val="3588541727"/>
                  </a:ext>
                </a:extLst>
              </a:tr>
              <a:tr h="370840">
                <a:tc>
                  <a:txBody>
                    <a:bodyPr/>
                    <a:lstStyle/>
                    <a:p>
                      <a:r>
                        <a:rPr lang="en-US" dirty="0">
                          <a:latin typeface="Century Gothic" panose="020B0502020202020204" pitchFamily="34" charset="0"/>
                        </a:rPr>
                        <a:t>Adamawa</a:t>
                      </a:r>
                    </a:p>
                  </a:txBody>
                  <a:tcPr/>
                </a:tc>
                <a:tc>
                  <a:txBody>
                    <a:bodyPr/>
                    <a:lstStyle/>
                    <a:p>
                      <a:r>
                        <a:rPr lang="en-US" dirty="0">
                          <a:latin typeface="Century Gothic" panose="020B0502020202020204" pitchFamily="34" charset="0"/>
                        </a:rPr>
                        <a:t>11</a:t>
                      </a:r>
                    </a:p>
                  </a:txBody>
                  <a:tcPr/>
                </a:tc>
                <a:extLst>
                  <a:ext uri="{0D108BD9-81ED-4DB2-BD59-A6C34878D82A}">
                    <a16:rowId xmlns:a16="http://schemas.microsoft.com/office/drawing/2014/main" val="2590870823"/>
                  </a:ext>
                </a:extLst>
              </a:tr>
              <a:tr h="370840">
                <a:tc>
                  <a:txBody>
                    <a:bodyPr/>
                    <a:lstStyle/>
                    <a:p>
                      <a:r>
                        <a:rPr lang="en-US" dirty="0">
                          <a:latin typeface="Century Gothic" panose="020B0502020202020204" pitchFamily="34" charset="0"/>
                        </a:rPr>
                        <a:t>Kwara</a:t>
                      </a:r>
                    </a:p>
                  </a:txBody>
                  <a:tcPr/>
                </a:tc>
                <a:tc>
                  <a:txBody>
                    <a:bodyPr/>
                    <a:lstStyle/>
                    <a:p>
                      <a:r>
                        <a:rPr lang="en-US" dirty="0">
                          <a:latin typeface="Century Gothic" panose="020B0502020202020204" pitchFamily="34" charset="0"/>
                        </a:rPr>
                        <a:t>11</a:t>
                      </a:r>
                    </a:p>
                  </a:txBody>
                  <a:tcPr/>
                </a:tc>
                <a:extLst>
                  <a:ext uri="{0D108BD9-81ED-4DB2-BD59-A6C34878D82A}">
                    <a16:rowId xmlns:a16="http://schemas.microsoft.com/office/drawing/2014/main" val="3132694375"/>
                  </a:ext>
                </a:extLst>
              </a:tr>
              <a:tr h="370840">
                <a:tc>
                  <a:txBody>
                    <a:bodyPr/>
                    <a:lstStyle/>
                    <a:p>
                      <a:r>
                        <a:rPr lang="en-US" dirty="0">
                          <a:latin typeface="Century Gothic" panose="020B0502020202020204" pitchFamily="34" charset="0"/>
                        </a:rPr>
                        <a:t>Akwa Ibom</a:t>
                      </a:r>
                    </a:p>
                  </a:txBody>
                  <a:tcPr/>
                </a:tc>
                <a:tc>
                  <a:txBody>
                    <a:bodyPr/>
                    <a:lstStyle/>
                    <a:p>
                      <a:r>
                        <a:rPr lang="en-US" dirty="0">
                          <a:latin typeface="Century Gothic" panose="020B0502020202020204" pitchFamily="34" charset="0"/>
                        </a:rPr>
                        <a:t>10</a:t>
                      </a:r>
                    </a:p>
                  </a:txBody>
                  <a:tcPr/>
                </a:tc>
                <a:extLst>
                  <a:ext uri="{0D108BD9-81ED-4DB2-BD59-A6C34878D82A}">
                    <a16:rowId xmlns:a16="http://schemas.microsoft.com/office/drawing/2014/main" val="1586699747"/>
                  </a:ext>
                </a:extLst>
              </a:tr>
              <a:tr h="370840">
                <a:tc>
                  <a:txBody>
                    <a:bodyPr/>
                    <a:lstStyle/>
                    <a:p>
                      <a:r>
                        <a:rPr lang="en-US" dirty="0">
                          <a:latin typeface="Century Gothic" panose="020B0502020202020204" pitchFamily="34" charset="0"/>
                        </a:rPr>
                        <a:t>Kano</a:t>
                      </a:r>
                    </a:p>
                  </a:txBody>
                  <a:tcPr/>
                </a:tc>
                <a:tc>
                  <a:txBody>
                    <a:bodyPr/>
                    <a:lstStyle/>
                    <a:p>
                      <a:r>
                        <a:rPr lang="en-US" dirty="0">
                          <a:latin typeface="Century Gothic" panose="020B0502020202020204" pitchFamily="34" charset="0"/>
                        </a:rPr>
                        <a:t>10</a:t>
                      </a:r>
                    </a:p>
                  </a:txBody>
                  <a:tcPr/>
                </a:tc>
                <a:extLst>
                  <a:ext uri="{0D108BD9-81ED-4DB2-BD59-A6C34878D82A}">
                    <a16:rowId xmlns:a16="http://schemas.microsoft.com/office/drawing/2014/main" val="2919412290"/>
                  </a:ext>
                </a:extLst>
              </a:tr>
              <a:tr h="370840">
                <a:tc>
                  <a:txBody>
                    <a:bodyPr/>
                    <a:lstStyle/>
                    <a:p>
                      <a:r>
                        <a:rPr lang="en-US" dirty="0">
                          <a:latin typeface="Century Gothic" panose="020B0502020202020204" pitchFamily="34" charset="0"/>
                        </a:rPr>
                        <a:t>Bayelsa</a:t>
                      </a:r>
                    </a:p>
                  </a:txBody>
                  <a:tcPr/>
                </a:tc>
                <a:tc>
                  <a:txBody>
                    <a:bodyPr/>
                    <a:lstStyle/>
                    <a:p>
                      <a:r>
                        <a:rPr lang="en-US" dirty="0">
                          <a:latin typeface="Century Gothic" panose="020B0502020202020204" pitchFamily="34" charset="0"/>
                        </a:rPr>
                        <a:t>10</a:t>
                      </a:r>
                    </a:p>
                  </a:txBody>
                  <a:tcPr/>
                </a:tc>
                <a:extLst>
                  <a:ext uri="{0D108BD9-81ED-4DB2-BD59-A6C34878D82A}">
                    <a16:rowId xmlns:a16="http://schemas.microsoft.com/office/drawing/2014/main" val="1672885584"/>
                  </a:ext>
                </a:extLst>
              </a:tr>
              <a:tr h="370840">
                <a:tc>
                  <a:txBody>
                    <a:bodyPr/>
                    <a:lstStyle/>
                    <a:p>
                      <a:r>
                        <a:rPr lang="en-US" dirty="0">
                          <a:latin typeface="Century Gothic" panose="020B0502020202020204" pitchFamily="34" charset="0"/>
                        </a:rPr>
                        <a:t>Delta</a:t>
                      </a:r>
                    </a:p>
                  </a:txBody>
                  <a:tcPr/>
                </a:tc>
                <a:tc>
                  <a:txBody>
                    <a:bodyPr/>
                    <a:lstStyle/>
                    <a:p>
                      <a:r>
                        <a:rPr lang="en-US" dirty="0">
                          <a:latin typeface="Century Gothic" panose="020B0502020202020204" pitchFamily="34" charset="0"/>
                        </a:rPr>
                        <a:t>10</a:t>
                      </a:r>
                    </a:p>
                  </a:txBody>
                  <a:tcPr/>
                </a:tc>
                <a:extLst>
                  <a:ext uri="{0D108BD9-81ED-4DB2-BD59-A6C34878D82A}">
                    <a16:rowId xmlns:a16="http://schemas.microsoft.com/office/drawing/2014/main" val="3338065102"/>
                  </a:ext>
                </a:extLst>
              </a:tr>
              <a:tr h="370840">
                <a:tc>
                  <a:txBody>
                    <a:bodyPr/>
                    <a:lstStyle/>
                    <a:p>
                      <a:r>
                        <a:rPr lang="en-US" dirty="0">
                          <a:latin typeface="Century Gothic" panose="020B0502020202020204" pitchFamily="34" charset="0"/>
                        </a:rPr>
                        <a:t>Rivers </a:t>
                      </a:r>
                    </a:p>
                  </a:txBody>
                  <a:tcPr/>
                </a:tc>
                <a:tc>
                  <a:txBody>
                    <a:bodyPr/>
                    <a:lstStyle/>
                    <a:p>
                      <a:r>
                        <a:rPr lang="en-US" dirty="0">
                          <a:latin typeface="Century Gothic" panose="020B0502020202020204" pitchFamily="34" charset="0"/>
                        </a:rPr>
                        <a:t>10</a:t>
                      </a:r>
                    </a:p>
                  </a:txBody>
                  <a:tcPr/>
                </a:tc>
                <a:extLst>
                  <a:ext uri="{0D108BD9-81ED-4DB2-BD59-A6C34878D82A}">
                    <a16:rowId xmlns:a16="http://schemas.microsoft.com/office/drawing/2014/main" val="560538227"/>
                  </a:ext>
                </a:extLst>
              </a:tr>
              <a:tr h="370840">
                <a:tc>
                  <a:txBody>
                    <a:bodyPr/>
                    <a:lstStyle/>
                    <a:p>
                      <a:r>
                        <a:rPr lang="en-US" dirty="0">
                          <a:latin typeface="Century Gothic" panose="020B0502020202020204" pitchFamily="34" charset="0"/>
                        </a:rPr>
                        <a:t>Ondo</a:t>
                      </a:r>
                    </a:p>
                  </a:txBody>
                  <a:tcPr/>
                </a:tc>
                <a:tc>
                  <a:txBody>
                    <a:bodyPr/>
                    <a:lstStyle/>
                    <a:p>
                      <a:r>
                        <a:rPr lang="en-US" dirty="0">
                          <a:latin typeface="Century Gothic" panose="020B0502020202020204" pitchFamily="34" charset="0"/>
                        </a:rPr>
                        <a:t>9</a:t>
                      </a:r>
                    </a:p>
                  </a:txBody>
                  <a:tcPr/>
                </a:tc>
                <a:extLst>
                  <a:ext uri="{0D108BD9-81ED-4DB2-BD59-A6C34878D82A}">
                    <a16:rowId xmlns:a16="http://schemas.microsoft.com/office/drawing/2014/main" val="3593747454"/>
                  </a:ext>
                </a:extLst>
              </a:tr>
              <a:tr h="370840">
                <a:tc>
                  <a:txBody>
                    <a:bodyPr/>
                    <a:lstStyle/>
                    <a:p>
                      <a:r>
                        <a:rPr lang="en-US" dirty="0">
                          <a:latin typeface="Century Gothic" panose="020B0502020202020204" pitchFamily="34" charset="0"/>
                        </a:rPr>
                        <a:t>Lagos</a:t>
                      </a:r>
                    </a:p>
                  </a:txBody>
                  <a:tcPr/>
                </a:tc>
                <a:tc>
                  <a:txBody>
                    <a:bodyPr/>
                    <a:lstStyle/>
                    <a:p>
                      <a:r>
                        <a:rPr lang="en-US" dirty="0">
                          <a:latin typeface="Century Gothic" panose="020B0502020202020204" pitchFamily="34" charset="0"/>
                        </a:rPr>
                        <a:t>9</a:t>
                      </a:r>
                    </a:p>
                  </a:txBody>
                  <a:tcPr/>
                </a:tc>
                <a:extLst>
                  <a:ext uri="{0D108BD9-81ED-4DB2-BD59-A6C34878D82A}">
                    <a16:rowId xmlns:a16="http://schemas.microsoft.com/office/drawing/2014/main" val="2967147703"/>
                  </a:ext>
                </a:extLst>
              </a:tr>
              <a:tr h="370840">
                <a:tc>
                  <a:txBody>
                    <a:bodyPr/>
                    <a:lstStyle/>
                    <a:p>
                      <a:r>
                        <a:rPr lang="en-US" dirty="0">
                          <a:latin typeface="Century Gothic" panose="020B0502020202020204" pitchFamily="34" charset="0"/>
                        </a:rPr>
                        <a:t>Kaduna</a:t>
                      </a:r>
                    </a:p>
                  </a:txBody>
                  <a:tcPr/>
                </a:tc>
                <a:tc>
                  <a:txBody>
                    <a:bodyPr/>
                    <a:lstStyle/>
                    <a:p>
                      <a:r>
                        <a:rPr lang="en-US" dirty="0">
                          <a:latin typeface="Century Gothic" panose="020B0502020202020204" pitchFamily="34" charset="0"/>
                        </a:rPr>
                        <a:t>8</a:t>
                      </a:r>
                    </a:p>
                  </a:txBody>
                  <a:tcPr/>
                </a:tc>
                <a:extLst>
                  <a:ext uri="{0D108BD9-81ED-4DB2-BD59-A6C34878D82A}">
                    <a16:rowId xmlns:a16="http://schemas.microsoft.com/office/drawing/2014/main" val="3942305123"/>
                  </a:ext>
                </a:extLst>
              </a:tr>
              <a:tr h="370840">
                <a:tc>
                  <a:txBody>
                    <a:bodyPr/>
                    <a:lstStyle/>
                    <a:p>
                      <a:endParaRPr lang="en-US" dirty="0">
                        <a:latin typeface="Century Gothic" panose="020B0502020202020204" pitchFamily="34" charset="0"/>
                      </a:endParaRPr>
                    </a:p>
                  </a:txBody>
                  <a:tcPr/>
                </a:tc>
                <a:tc>
                  <a:txBody>
                    <a:bodyPr/>
                    <a:lstStyle/>
                    <a:p>
                      <a:endParaRPr lang="en-US" dirty="0">
                        <a:latin typeface="Century Gothic" panose="020B0502020202020204" pitchFamily="34" charset="0"/>
                      </a:endParaRPr>
                    </a:p>
                  </a:txBody>
                  <a:tcPr/>
                </a:tc>
                <a:extLst>
                  <a:ext uri="{0D108BD9-81ED-4DB2-BD59-A6C34878D82A}">
                    <a16:rowId xmlns:a16="http://schemas.microsoft.com/office/drawing/2014/main" val="2442488698"/>
                  </a:ext>
                </a:extLst>
              </a:tr>
            </a:tbl>
          </a:graphicData>
        </a:graphic>
      </p:graphicFrame>
    </p:spTree>
    <p:extLst>
      <p:ext uri="{BB962C8B-B14F-4D97-AF65-F5344CB8AC3E}">
        <p14:creationId xmlns:p14="http://schemas.microsoft.com/office/powerpoint/2010/main" val="718929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288-96A3-5D5F-24B7-3723D230EAD1}"/>
              </a:ext>
            </a:extLst>
          </p:cNvPr>
          <p:cNvSpPr>
            <a:spLocks noGrp="1"/>
          </p:cNvSpPr>
          <p:nvPr>
            <p:ph type="title"/>
          </p:nvPr>
        </p:nvSpPr>
        <p:spPr>
          <a:xfrm>
            <a:off x="637234" y="120580"/>
            <a:ext cx="6185597" cy="1225899"/>
          </a:xfrm>
        </p:spPr>
        <p:txBody>
          <a:bodyPr>
            <a:noAutofit/>
          </a:bodyPr>
          <a:lstStyle/>
          <a:p>
            <a:r>
              <a:rPr lang="en-US" sz="2900" b="1" dirty="0">
                <a:latin typeface="Century Gothic" panose="020B0502020202020204" pitchFamily="34" charset="0"/>
              </a:rPr>
              <a:t>AVERAGE USAGE AND REVENUE BY PLAN TYPE CATEGORY, AND DEVICE CATEGORY.</a:t>
            </a:r>
          </a:p>
        </p:txBody>
      </p:sp>
      <p:graphicFrame>
        <p:nvGraphicFramePr>
          <p:cNvPr id="7" name="Content Placeholder 6">
            <a:extLst>
              <a:ext uri="{FF2B5EF4-FFF2-40B4-BE49-F238E27FC236}">
                <a16:creationId xmlns:a16="http://schemas.microsoft.com/office/drawing/2014/main" id="{AF84912B-411C-5847-1629-F3D941C62ABA}"/>
              </a:ext>
            </a:extLst>
          </p:cNvPr>
          <p:cNvGraphicFramePr>
            <a:graphicFrameLocks noGrp="1"/>
          </p:cNvGraphicFramePr>
          <p:nvPr>
            <p:ph sz="half" idx="2"/>
            <p:extLst>
              <p:ext uri="{D42A27DB-BD31-4B8C-83A1-F6EECF244321}">
                <p14:modId xmlns:p14="http://schemas.microsoft.com/office/powerpoint/2010/main" val="3898065165"/>
              </p:ext>
            </p:extLst>
          </p:nvPr>
        </p:nvGraphicFramePr>
        <p:xfrm>
          <a:off x="7559188" y="1527614"/>
          <a:ext cx="4116996" cy="4868985"/>
        </p:xfrm>
        <a:graphic>
          <a:graphicData uri="http://schemas.openxmlformats.org/drawingml/2006/table">
            <a:tbl>
              <a:tblPr firstRow="1" bandRow="1">
                <a:tableStyleId>{E269D01E-BC32-4049-B463-5C60D7B0CCD2}</a:tableStyleId>
              </a:tblPr>
              <a:tblGrid>
                <a:gridCol w="1372332">
                  <a:extLst>
                    <a:ext uri="{9D8B030D-6E8A-4147-A177-3AD203B41FA5}">
                      <a16:colId xmlns:a16="http://schemas.microsoft.com/office/drawing/2014/main" val="171534157"/>
                    </a:ext>
                  </a:extLst>
                </a:gridCol>
                <a:gridCol w="1372332">
                  <a:extLst>
                    <a:ext uri="{9D8B030D-6E8A-4147-A177-3AD203B41FA5}">
                      <a16:colId xmlns:a16="http://schemas.microsoft.com/office/drawing/2014/main" val="3183749682"/>
                    </a:ext>
                  </a:extLst>
                </a:gridCol>
                <a:gridCol w="1372332">
                  <a:extLst>
                    <a:ext uri="{9D8B030D-6E8A-4147-A177-3AD203B41FA5}">
                      <a16:colId xmlns:a16="http://schemas.microsoft.com/office/drawing/2014/main" val="1384353410"/>
                    </a:ext>
                  </a:extLst>
                </a:gridCol>
              </a:tblGrid>
              <a:tr h="10284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Plan Type Category</a:t>
                      </a:r>
                      <a:endParaRPr lang="en-US" dirty="0">
                        <a:solidFill>
                          <a:schemeClr val="tx1"/>
                        </a:solidFill>
                        <a:latin typeface="Century Gothic" panose="020B0502020202020204" pitchFamily="34" charset="0"/>
                      </a:endParaRPr>
                    </a:p>
                    <a:p>
                      <a:endParaRPr lang="en-US" dirty="0">
                        <a:solidFill>
                          <a:schemeClr val="tx1"/>
                        </a:solidFill>
                        <a:latin typeface="Century Gothic" panose="020B0502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Device Category</a:t>
                      </a:r>
                      <a:endParaRPr lang="en-US" dirty="0">
                        <a:solidFill>
                          <a:schemeClr val="tx1"/>
                        </a:solidFill>
                        <a:latin typeface="Century Gothic" panose="020B0502020202020204" pitchFamily="34" charset="0"/>
                      </a:endParaRPr>
                    </a:p>
                    <a:p>
                      <a:endParaRPr lang="en-US" dirty="0">
                        <a:solidFill>
                          <a:schemeClr val="tx1"/>
                        </a:solidFill>
                        <a:latin typeface="Century Gothic" panose="020B0502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Total Revenue</a:t>
                      </a:r>
                      <a:endParaRPr lang="en-US" dirty="0">
                        <a:solidFill>
                          <a:schemeClr val="tx1"/>
                        </a:solidFill>
                        <a:latin typeface="Century Gothic" panose="020B0502020202020204" pitchFamily="34" charset="0"/>
                      </a:endParaRPr>
                    </a:p>
                    <a:p>
                      <a:endParaRPr lang="en-US" dirty="0">
                        <a:solidFill>
                          <a:schemeClr val="tx1"/>
                        </a:solidFill>
                        <a:latin typeface="Century Gothic" panose="020B0502020202020204" pitchFamily="34" charset="0"/>
                      </a:endParaRPr>
                    </a:p>
                  </a:txBody>
                  <a:tcPr/>
                </a:tc>
                <a:extLst>
                  <a:ext uri="{0D108BD9-81ED-4DB2-BD59-A6C34878D82A}">
                    <a16:rowId xmlns:a16="http://schemas.microsoft.com/office/drawing/2014/main" val="922518669"/>
                  </a:ext>
                </a:extLst>
              </a:tr>
              <a:tr h="596356">
                <a:tc>
                  <a:txBody>
                    <a:bodyPr/>
                    <a:lstStyle/>
                    <a:p>
                      <a:r>
                        <a:rPr lang="en-US" sz="1800" b="1" i="0" kern="1200" dirty="0">
                          <a:solidFill>
                            <a:schemeClr val="tx1"/>
                          </a:solidFill>
                          <a:effectLst/>
                          <a:latin typeface="Century Gothic" panose="020B0502020202020204" pitchFamily="34" charset="0"/>
                          <a:ea typeface="+mn-ea"/>
                          <a:cs typeface="+mn-cs"/>
                        </a:rPr>
                        <a:t>Monthly</a:t>
                      </a:r>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Router</a:t>
                      </a:r>
                      <a:endParaRPr lang="en-US" dirty="0">
                        <a:solidFill>
                          <a:schemeClr val="tx1"/>
                        </a:solidFill>
                        <a:latin typeface="Century Gothic" panose="020B0502020202020204" pitchFamily="34" charset="0"/>
                      </a:endParaRPr>
                    </a:p>
                  </a:txBody>
                  <a:tcPr/>
                </a:tc>
                <a:tc>
                  <a:txBody>
                    <a:bodyPr/>
                    <a:lstStyle/>
                    <a:p>
                      <a:r>
                        <a:rPr lang="en-US" sz="1800" b="0" i="0" kern="1200" dirty="0">
                          <a:solidFill>
                            <a:srgbClr val="FF0000"/>
                          </a:solidFill>
                          <a:effectLst/>
                          <a:latin typeface="Century Gothic" panose="020B0502020202020204" pitchFamily="34" charset="0"/>
                          <a:ea typeface="+mn-ea"/>
                          <a:cs typeface="+mn-cs"/>
                        </a:rPr>
                        <a:t>79,271,000</a:t>
                      </a:r>
                      <a:endParaRPr lang="en-US" dirty="0">
                        <a:solidFill>
                          <a:srgbClr val="FF0000"/>
                        </a:solidFill>
                        <a:latin typeface="Century Gothic" panose="020B0502020202020204" pitchFamily="34" charset="0"/>
                      </a:endParaRPr>
                    </a:p>
                  </a:txBody>
                  <a:tcPr/>
                </a:tc>
                <a:extLst>
                  <a:ext uri="{0D108BD9-81ED-4DB2-BD59-A6C34878D82A}">
                    <a16:rowId xmlns:a16="http://schemas.microsoft.com/office/drawing/2014/main" val="558743456"/>
                  </a:ext>
                </a:extLst>
              </a:tr>
              <a:tr h="596356">
                <a:tc>
                  <a:txBody>
                    <a:bodyPr/>
                    <a:lstStyle/>
                    <a:p>
                      <a:r>
                        <a:rPr lang="en-US" sz="1800" b="1" i="0" kern="1200" dirty="0">
                          <a:solidFill>
                            <a:schemeClr val="tx1"/>
                          </a:solidFill>
                          <a:effectLst/>
                          <a:latin typeface="Century Gothic" panose="020B0502020202020204" pitchFamily="34" charset="0"/>
                          <a:ea typeface="+mn-ea"/>
                          <a:cs typeface="+mn-cs"/>
                        </a:rPr>
                        <a:t>Other</a:t>
                      </a:r>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Router</a:t>
                      </a:r>
                      <a:endParaRPr lang="en-US" dirty="0">
                        <a:solidFill>
                          <a:schemeClr val="tx1"/>
                        </a:solidFill>
                        <a:latin typeface="Century Gothic" panose="020B0502020202020204" pitchFamily="34" charset="0"/>
                      </a:endParaRPr>
                    </a:p>
                  </a:txBody>
                  <a:tcPr/>
                </a:tc>
                <a:tc>
                  <a:txBody>
                    <a:bodyPr/>
                    <a:lstStyle/>
                    <a:p>
                      <a:r>
                        <a:rPr lang="en-US" sz="1800" b="0" i="0" kern="1200" dirty="0">
                          <a:solidFill>
                            <a:schemeClr val="tx1"/>
                          </a:solidFill>
                          <a:effectLst/>
                          <a:latin typeface="Century Gothic" panose="020B0502020202020204" pitchFamily="34" charset="0"/>
                          <a:ea typeface="+mn-ea"/>
                          <a:cs typeface="+mn-cs"/>
                        </a:rPr>
                        <a:t>58,575,000</a:t>
                      </a:r>
                      <a:endParaRPr lang="en-US" dirty="0">
                        <a:solidFill>
                          <a:schemeClr val="tx1"/>
                        </a:solidFill>
                        <a:latin typeface="Century Gothic" panose="020B0502020202020204" pitchFamily="34" charset="0"/>
                      </a:endParaRPr>
                    </a:p>
                  </a:txBody>
                  <a:tcPr/>
                </a:tc>
                <a:extLst>
                  <a:ext uri="{0D108BD9-81ED-4DB2-BD59-A6C34878D82A}">
                    <a16:rowId xmlns:a16="http://schemas.microsoft.com/office/drawing/2014/main" val="961026059"/>
                  </a:ext>
                </a:extLst>
              </a:tr>
              <a:tr h="6619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Monthly</a:t>
                      </a:r>
                      <a:endParaRPr lang="en-US" dirty="0">
                        <a:solidFill>
                          <a:schemeClr val="tx1"/>
                        </a:solidFill>
                        <a:latin typeface="Century Gothic" panose="020B0502020202020204" pitchFamily="34" charset="0"/>
                      </a:endParaRPr>
                    </a:p>
                    <a:p>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MiFi</a:t>
                      </a:r>
                      <a:endParaRPr lang="en-US" dirty="0">
                        <a:solidFill>
                          <a:schemeClr val="tx1"/>
                        </a:solidFill>
                        <a:latin typeface="Century Gothic" panose="020B0502020202020204" pitchFamily="34" charset="0"/>
                      </a:endParaRPr>
                    </a:p>
                  </a:txBody>
                  <a:tcPr/>
                </a:tc>
                <a:tc>
                  <a:txBody>
                    <a:bodyPr/>
                    <a:lstStyle/>
                    <a:p>
                      <a:r>
                        <a:rPr lang="en-US" sz="1800" b="0" i="0" kern="1200" dirty="0">
                          <a:solidFill>
                            <a:schemeClr val="tx1"/>
                          </a:solidFill>
                          <a:effectLst/>
                          <a:latin typeface="Century Gothic" panose="020B0502020202020204" pitchFamily="34" charset="0"/>
                          <a:ea typeface="+mn-ea"/>
                          <a:cs typeface="+mn-cs"/>
                        </a:rPr>
                        <a:t>48,067,500</a:t>
                      </a:r>
                      <a:endParaRPr lang="en-US" dirty="0">
                        <a:solidFill>
                          <a:schemeClr val="tx1"/>
                        </a:solidFill>
                        <a:latin typeface="Century Gothic" panose="020B0502020202020204" pitchFamily="34" charset="0"/>
                      </a:endParaRPr>
                    </a:p>
                  </a:txBody>
                  <a:tcPr/>
                </a:tc>
                <a:extLst>
                  <a:ext uri="{0D108BD9-81ED-4DB2-BD59-A6C34878D82A}">
                    <a16:rowId xmlns:a16="http://schemas.microsoft.com/office/drawing/2014/main" val="598234585"/>
                  </a:ext>
                </a:extLst>
              </a:tr>
              <a:tr h="6619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Monthly</a:t>
                      </a:r>
                      <a:endParaRPr lang="en-US" dirty="0">
                        <a:solidFill>
                          <a:schemeClr val="tx1"/>
                        </a:solidFill>
                        <a:latin typeface="Century Gothic" panose="020B0502020202020204" pitchFamily="34" charset="0"/>
                      </a:endParaRPr>
                    </a:p>
                    <a:p>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Mobile SIM</a:t>
                      </a:r>
                      <a:endParaRPr lang="en-US" dirty="0">
                        <a:solidFill>
                          <a:schemeClr val="tx1"/>
                        </a:solidFill>
                        <a:latin typeface="Century Gothic" panose="020B0502020202020204" pitchFamily="34" charset="0"/>
                      </a:endParaRPr>
                    </a:p>
                  </a:txBody>
                  <a:tcPr/>
                </a:tc>
                <a:tc>
                  <a:txBody>
                    <a:bodyPr/>
                    <a:lstStyle/>
                    <a:p>
                      <a:r>
                        <a:rPr lang="en-US" sz="1800" b="0" i="0" kern="1200" dirty="0">
                          <a:solidFill>
                            <a:schemeClr val="tx1"/>
                          </a:solidFill>
                          <a:effectLst/>
                          <a:latin typeface="Century Gothic" panose="020B0502020202020204" pitchFamily="34" charset="0"/>
                          <a:ea typeface="+mn-ea"/>
                          <a:cs typeface="+mn-cs"/>
                        </a:rPr>
                        <a:t>12,357,500</a:t>
                      </a:r>
                      <a:endParaRPr lang="en-US" dirty="0">
                        <a:solidFill>
                          <a:schemeClr val="tx1"/>
                        </a:solidFill>
                        <a:latin typeface="Century Gothic" panose="020B0502020202020204" pitchFamily="34" charset="0"/>
                      </a:endParaRPr>
                    </a:p>
                  </a:txBody>
                  <a:tcPr/>
                </a:tc>
                <a:extLst>
                  <a:ext uri="{0D108BD9-81ED-4DB2-BD59-A6C34878D82A}">
                    <a16:rowId xmlns:a16="http://schemas.microsoft.com/office/drawing/2014/main" val="1238801274"/>
                  </a:ext>
                </a:extLst>
              </a:tr>
              <a:tr h="6619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Other</a:t>
                      </a:r>
                      <a:endParaRPr lang="en-US" dirty="0">
                        <a:solidFill>
                          <a:schemeClr val="tx1"/>
                        </a:solidFill>
                        <a:latin typeface="Century Gothic" panose="020B0502020202020204" pitchFamily="34" charset="0"/>
                      </a:endParaRPr>
                    </a:p>
                    <a:p>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Mobile SIM</a:t>
                      </a:r>
                      <a:endParaRPr lang="en-US" dirty="0">
                        <a:solidFill>
                          <a:schemeClr val="tx1"/>
                        </a:solidFill>
                        <a:latin typeface="Century Gothic" panose="020B0502020202020204" pitchFamily="34" charset="0"/>
                      </a:endParaRPr>
                    </a:p>
                  </a:txBody>
                  <a:tcPr/>
                </a:tc>
                <a:tc>
                  <a:txBody>
                    <a:bodyPr/>
                    <a:lstStyle/>
                    <a:p>
                      <a:r>
                        <a:rPr lang="en-US" sz="1800" b="0" i="0" kern="1200" dirty="0">
                          <a:solidFill>
                            <a:schemeClr val="tx1"/>
                          </a:solidFill>
                          <a:effectLst/>
                          <a:latin typeface="Century Gothic" panose="020B0502020202020204" pitchFamily="34" charset="0"/>
                          <a:ea typeface="+mn-ea"/>
                          <a:cs typeface="+mn-cs"/>
                        </a:rPr>
                        <a:t>848,000</a:t>
                      </a:r>
                      <a:endParaRPr lang="en-US" dirty="0">
                        <a:solidFill>
                          <a:schemeClr val="tx1"/>
                        </a:solidFill>
                        <a:latin typeface="Century Gothic" panose="020B0502020202020204" pitchFamily="34" charset="0"/>
                      </a:endParaRPr>
                    </a:p>
                  </a:txBody>
                  <a:tcPr/>
                </a:tc>
                <a:extLst>
                  <a:ext uri="{0D108BD9-81ED-4DB2-BD59-A6C34878D82A}">
                    <a16:rowId xmlns:a16="http://schemas.microsoft.com/office/drawing/2014/main" val="995257682"/>
                  </a:ext>
                </a:extLst>
              </a:tr>
              <a:tr h="661945">
                <a:tc>
                  <a:txBody>
                    <a:bodyPr/>
                    <a:lstStyle/>
                    <a:p>
                      <a:r>
                        <a:rPr lang="en-US" sz="1800" b="1" i="0" kern="1200" dirty="0">
                          <a:solidFill>
                            <a:schemeClr val="tx1"/>
                          </a:solidFill>
                          <a:effectLst/>
                          <a:latin typeface="Century Gothic" panose="020B0502020202020204" pitchFamily="34" charset="0"/>
                          <a:ea typeface="+mn-ea"/>
                          <a:cs typeface="+mn-cs"/>
                        </a:rPr>
                        <a:t>Daily</a:t>
                      </a:r>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Mobile SIM</a:t>
                      </a:r>
                      <a:endParaRPr lang="en-US" dirty="0">
                        <a:solidFill>
                          <a:schemeClr val="tx1"/>
                        </a:solidFill>
                        <a:latin typeface="Century Gothic" panose="020B0502020202020204" pitchFamily="34" charset="0"/>
                      </a:endParaRPr>
                    </a:p>
                  </a:txBody>
                  <a:tcPr/>
                </a:tc>
                <a:tc>
                  <a:txBody>
                    <a:bodyPr/>
                    <a:lstStyle/>
                    <a:p>
                      <a:r>
                        <a:rPr lang="en-US" sz="1800" b="0" i="0" kern="1200" dirty="0">
                          <a:solidFill>
                            <a:schemeClr val="tx1"/>
                          </a:solidFill>
                          <a:effectLst/>
                          <a:latin typeface="Century Gothic" panose="020B0502020202020204" pitchFamily="34" charset="0"/>
                          <a:ea typeface="+mn-ea"/>
                          <a:cs typeface="+mn-cs"/>
                        </a:rPr>
                        <a:t>229,200</a:t>
                      </a:r>
                      <a:endParaRPr lang="en-US" dirty="0">
                        <a:solidFill>
                          <a:schemeClr val="tx1"/>
                        </a:solidFill>
                        <a:latin typeface="Century Gothic" panose="020B0502020202020204" pitchFamily="34" charset="0"/>
                      </a:endParaRPr>
                    </a:p>
                  </a:txBody>
                  <a:tcPr/>
                </a:tc>
                <a:extLst>
                  <a:ext uri="{0D108BD9-81ED-4DB2-BD59-A6C34878D82A}">
                    <a16:rowId xmlns:a16="http://schemas.microsoft.com/office/drawing/2014/main" val="3390270219"/>
                  </a:ext>
                </a:extLst>
              </a:tr>
            </a:tbl>
          </a:graphicData>
        </a:graphic>
      </p:graphicFrame>
      <p:graphicFrame>
        <p:nvGraphicFramePr>
          <p:cNvPr id="8" name="Content Placeholder 6">
            <a:extLst>
              <a:ext uri="{FF2B5EF4-FFF2-40B4-BE49-F238E27FC236}">
                <a16:creationId xmlns:a16="http://schemas.microsoft.com/office/drawing/2014/main" id="{CBF05615-B01E-1CC9-95EB-05A4F093F7ED}"/>
              </a:ext>
            </a:extLst>
          </p:cNvPr>
          <p:cNvGraphicFramePr>
            <a:graphicFrameLocks/>
          </p:cNvGraphicFramePr>
          <p:nvPr>
            <p:extLst>
              <p:ext uri="{D42A27DB-BD31-4B8C-83A1-F6EECF244321}">
                <p14:modId xmlns:p14="http://schemas.microsoft.com/office/powerpoint/2010/main" val="793586277"/>
              </p:ext>
            </p:extLst>
          </p:nvPr>
        </p:nvGraphicFramePr>
        <p:xfrm>
          <a:off x="637234" y="1527614"/>
          <a:ext cx="6185597" cy="4868985"/>
        </p:xfrm>
        <a:graphic>
          <a:graphicData uri="http://schemas.openxmlformats.org/drawingml/2006/table">
            <a:tbl>
              <a:tblPr firstRow="1" bandRow="1">
                <a:tableStyleId>{E269D01E-BC32-4049-B463-5C60D7B0CCD2}</a:tableStyleId>
              </a:tblPr>
              <a:tblGrid>
                <a:gridCol w="1237119">
                  <a:extLst>
                    <a:ext uri="{9D8B030D-6E8A-4147-A177-3AD203B41FA5}">
                      <a16:colId xmlns:a16="http://schemas.microsoft.com/office/drawing/2014/main" val="171534157"/>
                    </a:ext>
                  </a:extLst>
                </a:gridCol>
                <a:gridCol w="1237119">
                  <a:extLst>
                    <a:ext uri="{9D8B030D-6E8A-4147-A177-3AD203B41FA5}">
                      <a16:colId xmlns:a16="http://schemas.microsoft.com/office/drawing/2014/main" val="3183749682"/>
                    </a:ext>
                  </a:extLst>
                </a:gridCol>
                <a:gridCol w="960410">
                  <a:extLst>
                    <a:ext uri="{9D8B030D-6E8A-4147-A177-3AD203B41FA5}">
                      <a16:colId xmlns:a16="http://schemas.microsoft.com/office/drawing/2014/main" val="3264305311"/>
                    </a:ext>
                  </a:extLst>
                </a:gridCol>
                <a:gridCol w="1172059">
                  <a:extLst>
                    <a:ext uri="{9D8B030D-6E8A-4147-A177-3AD203B41FA5}">
                      <a16:colId xmlns:a16="http://schemas.microsoft.com/office/drawing/2014/main" val="3460027918"/>
                    </a:ext>
                  </a:extLst>
                </a:gridCol>
                <a:gridCol w="1578890">
                  <a:extLst>
                    <a:ext uri="{9D8B030D-6E8A-4147-A177-3AD203B41FA5}">
                      <a16:colId xmlns:a16="http://schemas.microsoft.com/office/drawing/2014/main" val="1648669461"/>
                    </a:ext>
                  </a:extLst>
                </a:gridCol>
              </a:tblGrid>
              <a:tr h="10278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Plan Type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category</a:t>
                      </a:r>
                      <a:endParaRPr lang="en-US" dirty="0">
                        <a:solidFill>
                          <a:schemeClr val="tx1"/>
                        </a:solidFill>
                        <a:latin typeface="Century Gothic" panose="020B0502020202020204" pitchFamily="34" charset="0"/>
                      </a:endParaRPr>
                    </a:p>
                    <a:p>
                      <a:endParaRPr lang="en-US" dirty="0">
                        <a:solidFill>
                          <a:schemeClr val="tx1"/>
                        </a:solidFill>
                        <a:latin typeface="Century Gothic" panose="020B0502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effectLst/>
                          <a:latin typeface="Century Gothic" panose="020B0502020202020204" pitchFamily="34" charset="0"/>
                          <a:ea typeface="+mn-ea"/>
                          <a:cs typeface="+mn-cs"/>
                        </a:rPr>
                        <a:t>Device Category</a:t>
                      </a:r>
                      <a:endParaRPr lang="en-US" dirty="0">
                        <a:solidFill>
                          <a:schemeClr val="tx1"/>
                        </a:solidFill>
                        <a:latin typeface="Century Gothic" panose="020B0502020202020204" pitchFamily="34" charset="0"/>
                      </a:endParaRPr>
                    </a:p>
                    <a:p>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Avg. Data Usage</a:t>
                      </a:r>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Avg Data Per Month</a:t>
                      </a:r>
                      <a:endParaRPr lang="en-US" dirty="0">
                        <a:solidFill>
                          <a:schemeClr val="tx1"/>
                        </a:solidFill>
                        <a:latin typeface="Century Gothic" panose="020B0502020202020204" pitchFamily="34" charset="0"/>
                      </a:endParaRPr>
                    </a:p>
                  </a:txBody>
                  <a:tcPr/>
                </a:tc>
                <a:tc>
                  <a:txBody>
                    <a:bodyPr/>
                    <a:lstStyle/>
                    <a:p>
                      <a:r>
                        <a:rPr lang="en-US" sz="1800" b="1" i="0" kern="1200" dirty="0">
                          <a:solidFill>
                            <a:schemeClr val="tx1"/>
                          </a:solidFill>
                          <a:effectLst/>
                          <a:latin typeface="Century Gothic" panose="020B0502020202020204" pitchFamily="34" charset="0"/>
                          <a:ea typeface="+mn-ea"/>
                          <a:cs typeface="+mn-cs"/>
                        </a:rPr>
                        <a:t>Avg Revenue Per Month</a:t>
                      </a:r>
                      <a:endParaRPr lang="en-US" dirty="0">
                        <a:solidFill>
                          <a:schemeClr val="tx1"/>
                        </a:solidFill>
                        <a:latin typeface="Century Gothic" panose="020B0502020202020204" pitchFamily="34" charset="0"/>
                      </a:endParaRPr>
                    </a:p>
                  </a:txBody>
                  <a:tcPr/>
                </a:tc>
                <a:extLst>
                  <a:ext uri="{0D108BD9-81ED-4DB2-BD59-A6C34878D82A}">
                    <a16:rowId xmlns:a16="http://schemas.microsoft.com/office/drawing/2014/main" val="922518669"/>
                  </a:ext>
                </a:extLst>
              </a:tr>
              <a:tr h="675202">
                <a:tc>
                  <a:txBody>
                    <a:bodyPr/>
                    <a:lstStyle/>
                    <a:p>
                      <a:r>
                        <a:rPr lang="en-US" sz="1800" b="1" i="0" kern="1200" dirty="0">
                          <a:solidFill>
                            <a:schemeClr val="tx1"/>
                          </a:solidFill>
                          <a:effectLst/>
                          <a:latin typeface="Century Gothic" panose="020B0502020202020204" pitchFamily="34" charset="0"/>
                          <a:ea typeface="+mn-ea"/>
                          <a:cs typeface="+mn-cs"/>
                        </a:rPr>
                        <a:t>Daily</a:t>
                      </a:r>
                      <a:endParaRPr lang="en-US" b="1" dirty="0">
                        <a:solidFill>
                          <a:schemeClr val="tx1"/>
                        </a:solidFill>
                        <a:latin typeface="Century Gothic" panose="020B0502020202020204" pitchFamily="34" charset="0"/>
                      </a:endParaRPr>
                    </a:p>
                  </a:txBody>
                  <a:tcPr/>
                </a:tc>
                <a:tc>
                  <a:txBody>
                    <a:bodyPr/>
                    <a:lstStyle/>
                    <a:p>
                      <a:pPr algn="l"/>
                      <a:r>
                        <a:rPr lang="en-US" sz="1800" b="1" i="0" kern="1200" dirty="0">
                          <a:solidFill>
                            <a:schemeClr val="tx1"/>
                          </a:solidFill>
                          <a:effectLst/>
                          <a:latin typeface="Century Gothic" panose="020B0502020202020204" pitchFamily="34" charset="0"/>
                          <a:ea typeface="+mn-ea"/>
                          <a:cs typeface="+mn-cs"/>
                        </a:rPr>
                        <a:t>Mobile SIM</a:t>
                      </a:r>
                      <a:endParaRPr lang="en-US" b="1" dirty="0">
                        <a:solidFill>
                          <a:schemeClr val="tx1"/>
                        </a:solidFill>
                        <a:latin typeface="Century Gothic" panose="020B0502020202020204" pitchFamily="34" charset="0"/>
                      </a:endParaRPr>
                    </a:p>
                  </a:txBody>
                  <a:tcPr/>
                </a:tc>
                <a:tc>
                  <a:txBody>
                    <a:bodyPr/>
                    <a:lstStyle/>
                    <a:p>
                      <a:r>
                        <a:rPr lang="en-US" dirty="0">
                          <a:solidFill>
                            <a:schemeClr val="tx1"/>
                          </a:solidFill>
                          <a:latin typeface="Century Gothic" panose="020B0502020202020204" pitchFamily="34" charset="0"/>
                        </a:rPr>
                        <a:t>102.74</a:t>
                      </a:r>
                    </a:p>
                  </a:txBody>
                  <a:tcPr/>
                </a:tc>
                <a:tc>
                  <a:txBody>
                    <a:bodyPr/>
                    <a:lstStyle/>
                    <a:p>
                      <a:r>
                        <a:rPr lang="en-US" dirty="0">
                          <a:solidFill>
                            <a:schemeClr val="tx1"/>
                          </a:solidFill>
                          <a:latin typeface="Century Gothic" panose="020B0502020202020204" pitchFamily="34" charset="0"/>
                        </a:rPr>
                        <a:t>6.35</a:t>
                      </a:r>
                    </a:p>
                  </a:txBody>
                  <a:tcPr/>
                </a:tc>
                <a:tc>
                  <a:txBody>
                    <a:bodyPr/>
                    <a:lstStyle/>
                    <a:p>
                      <a:r>
                        <a:rPr lang="en-US" dirty="0">
                          <a:solidFill>
                            <a:schemeClr val="tx1"/>
                          </a:solidFill>
                          <a:latin typeface="Century Gothic" panose="020B0502020202020204" pitchFamily="34" charset="0"/>
                        </a:rPr>
                        <a:t>231.55</a:t>
                      </a:r>
                    </a:p>
                  </a:txBody>
                  <a:tcPr/>
                </a:tc>
                <a:extLst>
                  <a:ext uri="{0D108BD9-81ED-4DB2-BD59-A6C34878D82A}">
                    <a16:rowId xmlns:a16="http://schemas.microsoft.com/office/drawing/2014/main" val="558743456"/>
                  </a:ext>
                </a:extLst>
              </a:tr>
              <a:tr h="551553">
                <a:tc>
                  <a:txBody>
                    <a:bodyPr/>
                    <a:lstStyle/>
                    <a:p>
                      <a:r>
                        <a:rPr lang="en-US" sz="1800" b="1" i="0" kern="1200" dirty="0">
                          <a:solidFill>
                            <a:schemeClr val="tx1"/>
                          </a:solidFill>
                          <a:effectLst/>
                          <a:latin typeface="Century Gothic" panose="020B0502020202020204" pitchFamily="34" charset="0"/>
                          <a:ea typeface="+mn-ea"/>
                          <a:cs typeface="+mn-cs"/>
                        </a:rPr>
                        <a:t>Monthly</a:t>
                      </a:r>
                      <a:endParaRPr lang="en-US" b="1" dirty="0">
                        <a:solidFill>
                          <a:schemeClr val="tx1"/>
                        </a:solidFill>
                        <a:latin typeface="Century Gothic" panose="020B0502020202020204" pitchFamily="34" charset="0"/>
                      </a:endParaRPr>
                    </a:p>
                  </a:txBody>
                  <a:tcPr/>
                </a:tc>
                <a:tc>
                  <a:txBody>
                    <a:bodyPr/>
                    <a:lstStyle/>
                    <a:p>
                      <a:pPr algn="l"/>
                      <a:r>
                        <a:rPr lang="en-US" b="1" dirty="0">
                          <a:solidFill>
                            <a:schemeClr val="tx1"/>
                          </a:solidFill>
                          <a:latin typeface="Century Gothic" panose="020B0502020202020204" pitchFamily="34" charset="0"/>
                        </a:rPr>
                        <a:t>MIFI</a:t>
                      </a:r>
                    </a:p>
                  </a:txBody>
                  <a:tcPr/>
                </a:tc>
                <a:tc>
                  <a:txBody>
                    <a:bodyPr/>
                    <a:lstStyle/>
                    <a:p>
                      <a:r>
                        <a:rPr lang="en-US" dirty="0">
                          <a:solidFill>
                            <a:srgbClr val="FF0000"/>
                          </a:solidFill>
                          <a:latin typeface="Century Gothic" panose="020B0502020202020204" pitchFamily="34" charset="0"/>
                        </a:rPr>
                        <a:t>103.46</a:t>
                      </a:r>
                    </a:p>
                  </a:txBody>
                  <a:tcPr/>
                </a:tc>
                <a:tc>
                  <a:txBody>
                    <a:bodyPr/>
                    <a:lstStyle/>
                    <a:p>
                      <a:r>
                        <a:rPr lang="en-US" dirty="0">
                          <a:solidFill>
                            <a:schemeClr val="tx1"/>
                          </a:solidFill>
                          <a:latin typeface="Century Gothic" panose="020B0502020202020204" pitchFamily="34" charset="0"/>
                        </a:rPr>
                        <a:t>6.63</a:t>
                      </a:r>
                    </a:p>
                  </a:txBody>
                  <a:tcPr/>
                </a:tc>
                <a:tc>
                  <a:txBody>
                    <a:bodyPr/>
                    <a:lstStyle/>
                    <a:p>
                      <a:r>
                        <a:rPr lang="en-US" dirty="0">
                          <a:solidFill>
                            <a:schemeClr val="tx1"/>
                          </a:solidFill>
                          <a:latin typeface="Century Gothic" panose="020B0502020202020204" pitchFamily="34" charset="0"/>
                        </a:rPr>
                        <a:t>12998.30</a:t>
                      </a:r>
                    </a:p>
                  </a:txBody>
                  <a:tcPr/>
                </a:tc>
                <a:extLst>
                  <a:ext uri="{0D108BD9-81ED-4DB2-BD59-A6C34878D82A}">
                    <a16:rowId xmlns:a16="http://schemas.microsoft.com/office/drawing/2014/main" val="961026059"/>
                  </a:ext>
                </a:extLst>
              </a:tr>
              <a:tr h="675202">
                <a:tc>
                  <a:txBody>
                    <a:bodyPr/>
                    <a:lstStyle/>
                    <a:p>
                      <a:r>
                        <a:rPr lang="en-US" sz="1800" b="1" i="0" kern="1200" dirty="0">
                          <a:solidFill>
                            <a:schemeClr val="tx1"/>
                          </a:solidFill>
                          <a:effectLst/>
                          <a:latin typeface="Century Gothic" panose="020B0502020202020204" pitchFamily="34" charset="0"/>
                          <a:ea typeface="+mn-ea"/>
                          <a:cs typeface="+mn-cs"/>
                        </a:rPr>
                        <a:t>Monthly</a:t>
                      </a:r>
                      <a:endParaRPr lang="en-US" b="1" dirty="0">
                        <a:solidFill>
                          <a:schemeClr val="tx1"/>
                        </a:solidFill>
                        <a:latin typeface="Century Gothic" panose="020B0502020202020204" pitchFamily="34" charset="0"/>
                      </a:endParaRPr>
                    </a:p>
                  </a:txBody>
                  <a:tcPr/>
                </a:tc>
                <a:tc>
                  <a:txBody>
                    <a:bodyPr/>
                    <a:lstStyle/>
                    <a:p>
                      <a:pPr algn="l"/>
                      <a:r>
                        <a:rPr lang="en-US" sz="1800" b="1" i="0" kern="1200" dirty="0">
                          <a:solidFill>
                            <a:schemeClr val="tx1"/>
                          </a:solidFill>
                          <a:effectLst/>
                          <a:latin typeface="Century Gothic" panose="020B0502020202020204" pitchFamily="34" charset="0"/>
                          <a:ea typeface="+mn-ea"/>
                          <a:cs typeface="+mn-cs"/>
                        </a:rPr>
                        <a:t>Mobile SIM</a:t>
                      </a:r>
                      <a:endParaRPr lang="en-US" b="1" dirty="0">
                        <a:solidFill>
                          <a:schemeClr val="tx1"/>
                        </a:solidFill>
                        <a:latin typeface="Century Gothic" panose="020B0502020202020204" pitchFamily="34" charset="0"/>
                      </a:endParaRPr>
                    </a:p>
                  </a:txBody>
                  <a:tcPr/>
                </a:tc>
                <a:tc>
                  <a:txBody>
                    <a:bodyPr/>
                    <a:lstStyle/>
                    <a:p>
                      <a:r>
                        <a:rPr lang="en-US" dirty="0">
                          <a:solidFill>
                            <a:schemeClr val="tx1"/>
                          </a:solidFill>
                          <a:latin typeface="Century Gothic" panose="020B0502020202020204" pitchFamily="34" charset="0"/>
                        </a:rPr>
                        <a:t>103.06</a:t>
                      </a:r>
                    </a:p>
                  </a:txBody>
                  <a:tcPr/>
                </a:tc>
                <a:tc>
                  <a:txBody>
                    <a:bodyPr/>
                    <a:lstStyle/>
                    <a:p>
                      <a:r>
                        <a:rPr lang="en-US" dirty="0">
                          <a:solidFill>
                            <a:schemeClr val="tx1"/>
                          </a:solidFill>
                          <a:latin typeface="Century Gothic" panose="020B0502020202020204" pitchFamily="34" charset="0"/>
                        </a:rPr>
                        <a:t>6.59</a:t>
                      </a:r>
                    </a:p>
                  </a:txBody>
                  <a:tcPr/>
                </a:tc>
                <a:tc>
                  <a:txBody>
                    <a:bodyPr/>
                    <a:lstStyle/>
                    <a:p>
                      <a:r>
                        <a:rPr lang="en-US" dirty="0">
                          <a:solidFill>
                            <a:schemeClr val="tx1"/>
                          </a:solidFill>
                          <a:latin typeface="Century Gothic" panose="020B0502020202020204" pitchFamily="34" charset="0"/>
                        </a:rPr>
                        <a:t>5693.60</a:t>
                      </a:r>
                    </a:p>
                  </a:txBody>
                  <a:tcPr/>
                </a:tc>
                <a:extLst>
                  <a:ext uri="{0D108BD9-81ED-4DB2-BD59-A6C34878D82A}">
                    <a16:rowId xmlns:a16="http://schemas.microsoft.com/office/drawing/2014/main" val="598234585"/>
                  </a:ext>
                </a:extLst>
              </a:tr>
              <a:tr h="551553">
                <a:tc>
                  <a:txBody>
                    <a:bodyPr/>
                    <a:lstStyle/>
                    <a:p>
                      <a:r>
                        <a:rPr lang="en-US" sz="1800" b="1" i="0" kern="1200" dirty="0">
                          <a:solidFill>
                            <a:schemeClr val="tx1"/>
                          </a:solidFill>
                          <a:effectLst/>
                          <a:latin typeface="Century Gothic" panose="020B0502020202020204" pitchFamily="34" charset="0"/>
                          <a:ea typeface="+mn-ea"/>
                          <a:cs typeface="+mn-cs"/>
                        </a:rPr>
                        <a:t>Monthly</a:t>
                      </a:r>
                      <a:endParaRPr lang="en-US" b="1" dirty="0">
                        <a:solidFill>
                          <a:schemeClr val="tx1"/>
                        </a:solidFill>
                        <a:latin typeface="Century Gothic" panose="020B0502020202020204" pitchFamily="34" charset="0"/>
                      </a:endParaRPr>
                    </a:p>
                  </a:txBody>
                  <a:tcPr/>
                </a:tc>
                <a:tc>
                  <a:txBody>
                    <a:bodyPr/>
                    <a:lstStyle/>
                    <a:p>
                      <a:pPr algn="l"/>
                      <a:r>
                        <a:rPr lang="en-US" b="1" dirty="0">
                          <a:solidFill>
                            <a:schemeClr val="tx1"/>
                          </a:solidFill>
                          <a:latin typeface="Century Gothic" panose="020B0502020202020204" pitchFamily="34" charset="0"/>
                        </a:rPr>
                        <a:t>Router</a:t>
                      </a:r>
                    </a:p>
                  </a:txBody>
                  <a:tcPr/>
                </a:tc>
                <a:tc>
                  <a:txBody>
                    <a:bodyPr/>
                    <a:lstStyle/>
                    <a:p>
                      <a:r>
                        <a:rPr lang="en-US" dirty="0">
                          <a:solidFill>
                            <a:schemeClr val="tx1"/>
                          </a:solidFill>
                          <a:latin typeface="Century Gothic" panose="020B0502020202020204" pitchFamily="34" charset="0"/>
                        </a:rPr>
                        <a:t>95.55</a:t>
                      </a:r>
                    </a:p>
                  </a:txBody>
                  <a:tcPr/>
                </a:tc>
                <a:tc>
                  <a:txBody>
                    <a:bodyPr/>
                    <a:lstStyle/>
                    <a:p>
                      <a:r>
                        <a:rPr lang="en-US" dirty="0">
                          <a:solidFill>
                            <a:schemeClr val="tx1"/>
                          </a:solidFill>
                          <a:latin typeface="Century Gothic" panose="020B0502020202020204" pitchFamily="34" charset="0"/>
                        </a:rPr>
                        <a:t>6.57</a:t>
                      </a:r>
                    </a:p>
                  </a:txBody>
                  <a:tcPr/>
                </a:tc>
                <a:tc>
                  <a:txBody>
                    <a:bodyPr/>
                    <a:lstStyle/>
                    <a:p>
                      <a:r>
                        <a:rPr lang="en-US" dirty="0">
                          <a:solidFill>
                            <a:schemeClr val="tx1"/>
                          </a:solidFill>
                          <a:latin typeface="Century Gothic" panose="020B0502020202020204" pitchFamily="34" charset="0"/>
                        </a:rPr>
                        <a:t>15300.01</a:t>
                      </a:r>
                    </a:p>
                  </a:txBody>
                  <a:tcPr/>
                </a:tc>
                <a:extLst>
                  <a:ext uri="{0D108BD9-81ED-4DB2-BD59-A6C34878D82A}">
                    <a16:rowId xmlns:a16="http://schemas.microsoft.com/office/drawing/2014/main" val="1238801274"/>
                  </a:ext>
                </a:extLst>
              </a:tr>
              <a:tr h="675202">
                <a:tc>
                  <a:txBody>
                    <a:bodyPr/>
                    <a:lstStyle/>
                    <a:p>
                      <a:pPr algn="l">
                        <a:buNone/>
                      </a:pPr>
                      <a:r>
                        <a:rPr lang="en-US" b="1" dirty="0">
                          <a:solidFill>
                            <a:schemeClr val="tx1"/>
                          </a:solidFill>
                          <a:effectLst/>
                          <a:latin typeface="Century Gothic" panose="020B0502020202020204" pitchFamily="34" charset="0"/>
                        </a:rPr>
                        <a:t>Other</a:t>
                      </a:r>
                    </a:p>
                  </a:txBody>
                  <a:tcPr anchor="ctr"/>
                </a:tc>
                <a:tc>
                  <a:txBody>
                    <a:bodyPr/>
                    <a:lstStyle/>
                    <a:p>
                      <a:pPr algn="l">
                        <a:buNone/>
                      </a:pPr>
                      <a:r>
                        <a:rPr lang="en-US" sz="1800" b="1" i="0" kern="1200" dirty="0">
                          <a:solidFill>
                            <a:schemeClr val="tx1"/>
                          </a:solidFill>
                          <a:effectLst/>
                          <a:latin typeface="Century Gothic" panose="020B0502020202020204" pitchFamily="34" charset="0"/>
                          <a:ea typeface="+mn-ea"/>
                          <a:cs typeface="+mn-cs"/>
                        </a:rPr>
                        <a:t>Mobile SIM</a:t>
                      </a:r>
                      <a:endParaRPr lang="en-US" b="1" dirty="0">
                        <a:solidFill>
                          <a:schemeClr val="tx1"/>
                        </a:solidFill>
                        <a:effectLst/>
                        <a:latin typeface="Century Gothic" panose="020B0502020202020204" pitchFamily="34" charset="0"/>
                      </a:endParaRPr>
                    </a:p>
                  </a:txBody>
                  <a:tcPr anchor="ctr"/>
                </a:tc>
                <a:tc>
                  <a:txBody>
                    <a:bodyPr/>
                    <a:lstStyle/>
                    <a:p>
                      <a:r>
                        <a:rPr lang="en-US" dirty="0">
                          <a:solidFill>
                            <a:schemeClr val="tx1"/>
                          </a:solidFill>
                          <a:latin typeface="Century Gothic" panose="020B0502020202020204" pitchFamily="34" charset="0"/>
                        </a:rPr>
                        <a:t>97.93</a:t>
                      </a:r>
                    </a:p>
                  </a:txBody>
                  <a:tcPr/>
                </a:tc>
                <a:tc>
                  <a:txBody>
                    <a:bodyPr/>
                    <a:lstStyle/>
                    <a:p>
                      <a:r>
                        <a:rPr lang="en-US" dirty="0">
                          <a:solidFill>
                            <a:schemeClr val="tx1"/>
                          </a:solidFill>
                          <a:latin typeface="Century Gothic" panose="020B0502020202020204" pitchFamily="34" charset="0"/>
                        </a:rPr>
                        <a:t>5.69</a:t>
                      </a:r>
                    </a:p>
                  </a:txBody>
                  <a:tcPr/>
                </a:tc>
                <a:tc>
                  <a:txBody>
                    <a:bodyPr/>
                    <a:lstStyle/>
                    <a:p>
                      <a:r>
                        <a:rPr lang="en-US" dirty="0">
                          <a:solidFill>
                            <a:schemeClr val="tx1"/>
                          </a:solidFill>
                          <a:latin typeface="Century Gothic" panose="020B0502020202020204" pitchFamily="34" charset="0"/>
                        </a:rPr>
                        <a:t>574.66</a:t>
                      </a:r>
                    </a:p>
                  </a:txBody>
                  <a:tcPr/>
                </a:tc>
                <a:extLst>
                  <a:ext uri="{0D108BD9-81ED-4DB2-BD59-A6C34878D82A}">
                    <a16:rowId xmlns:a16="http://schemas.microsoft.com/office/drawing/2014/main" val="995257682"/>
                  </a:ext>
                </a:extLst>
              </a:tr>
              <a:tr h="551553">
                <a:tc>
                  <a:txBody>
                    <a:bodyPr/>
                    <a:lstStyle/>
                    <a:p>
                      <a:pPr algn="l">
                        <a:buNone/>
                      </a:pPr>
                      <a:r>
                        <a:rPr lang="en-US" b="1" dirty="0">
                          <a:solidFill>
                            <a:schemeClr val="tx1"/>
                          </a:solidFill>
                          <a:effectLst/>
                          <a:latin typeface="Century Gothic" panose="020B0502020202020204" pitchFamily="34" charset="0"/>
                        </a:rPr>
                        <a:t>Other</a:t>
                      </a:r>
                    </a:p>
                  </a:txBody>
                  <a:tcPr anchor="ctr"/>
                </a:tc>
                <a:tc>
                  <a:txBody>
                    <a:bodyPr/>
                    <a:lstStyle/>
                    <a:p>
                      <a:pPr algn="l">
                        <a:buNone/>
                      </a:pPr>
                      <a:r>
                        <a:rPr lang="en-US" b="1" dirty="0">
                          <a:solidFill>
                            <a:schemeClr val="tx1"/>
                          </a:solidFill>
                          <a:effectLst/>
                          <a:latin typeface="Century Gothic" panose="020B0502020202020204" pitchFamily="34" charset="0"/>
                        </a:rPr>
                        <a:t>Router</a:t>
                      </a:r>
                    </a:p>
                  </a:txBody>
                  <a:tcPr anchor="ctr"/>
                </a:tc>
                <a:tc>
                  <a:txBody>
                    <a:bodyPr/>
                    <a:lstStyle/>
                    <a:p>
                      <a:r>
                        <a:rPr lang="en-US" dirty="0">
                          <a:solidFill>
                            <a:schemeClr val="tx1"/>
                          </a:solidFill>
                          <a:latin typeface="Century Gothic" panose="020B0502020202020204" pitchFamily="34" charset="0"/>
                        </a:rPr>
                        <a:t>97.38</a:t>
                      </a:r>
                    </a:p>
                  </a:txBody>
                  <a:tcPr/>
                </a:tc>
                <a:tc>
                  <a:txBody>
                    <a:bodyPr/>
                    <a:lstStyle/>
                    <a:p>
                      <a:r>
                        <a:rPr lang="en-US" dirty="0">
                          <a:solidFill>
                            <a:srgbClr val="FF0000"/>
                          </a:solidFill>
                          <a:latin typeface="Century Gothic" panose="020B0502020202020204" pitchFamily="34" charset="0"/>
                        </a:rPr>
                        <a:t>8.98</a:t>
                      </a:r>
                    </a:p>
                  </a:txBody>
                  <a:tcPr/>
                </a:tc>
                <a:tc>
                  <a:txBody>
                    <a:bodyPr/>
                    <a:lstStyle/>
                    <a:p>
                      <a:r>
                        <a:rPr lang="en-US" dirty="0">
                          <a:solidFill>
                            <a:srgbClr val="FF0000"/>
                          </a:solidFill>
                          <a:latin typeface="Century Gothic" panose="020B0502020202020204" pitchFamily="34" charset="0"/>
                        </a:rPr>
                        <a:t>77651.00</a:t>
                      </a:r>
                    </a:p>
                  </a:txBody>
                  <a:tcPr/>
                </a:tc>
                <a:extLst>
                  <a:ext uri="{0D108BD9-81ED-4DB2-BD59-A6C34878D82A}">
                    <a16:rowId xmlns:a16="http://schemas.microsoft.com/office/drawing/2014/main" val="3390270219"/>
                  </a:ext>
                </a:extLst>
              </a:tr>
            </a:tbl>
          </a:graphicData>
        </a:graphic>
      </p:graphicFrame>
      <p:sp>
        <p:nvSpPr>
          <p:cNvPr id="14" name="TextBox 13">
            <a:extLst>
              <a:ext uri="{FF2B5EF4-FFF2-40B4-BE49-F238E27FC236}">
                <a16:creationId xmlns:a16="http://schemas.microsoft.com/office/drawing/2014/main" id="{5BC29ECA-4796-4171-31BE-D11CB82856B5}"/>
              </a:ext>
            </a:extLst>
          </p:cNvPr>
          <p:cNvSpPr txBox="1"/>
          <p:nvPr/>
        </p:nvSpPr>
        <p:spPr>
          <a:xfrm>
            <a:off x="7559188" y="120580"/>
            <a:ext cx="4549076" cy="1431161"/>
          </a:xfrm>
          <a:prstGeom prst="rect">
            <a:avLst/>
          </a:prstGeom>
          <a:noFill/>
        </p:spPr>
        <p:txBody>
          <a:bodyPr wrap="square" rtlCol="0">
            <a:spAutoFit/>
          </a:bodyPr>
          <a:lstStyle/>
          <a:p>
            <a:r>
              <a:rPr lang="en-US" sz="2900" b="1" dirty="0">
                <a:latin typeface="Century Gothic" panose="020B0502020202020204" pitchFamily="34" charset="0"/>
              </a:rPr>
              <a:t>TOTAL REVENUE BY PLAN TYPE, CATEGORY, AND DEVICE CATEGORY</a:t>
            </a:r>
          </a:p>
        </p:txBody>
      </p:sp>
    </p:spTree>
    <p:extLst>
      <p:ext uri="{BB962C8B-B14F-4D97-AF65-F5344CB8AC3E}">
        <p14:creationId xmlns:p14="http://schemas.microsoft.com/office/powerpoint/2010/main" val="1419424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0558EA-3F70-8861-FAF2-FA638A31BA26}"/>
              </a:ext>
            </a:extLst>
          </p:cNvPr>
          <p:cNvSpPr>
            <a:spLocks noGrp="1"/>
          </p:cNvSpPr>
          <p:nvPr>
            <p:ph type="title"/>
          </p:nvPr>
        </p:nvSpPr>
        <p:spPr/>
        <p:txBody>
          <a:bodyPr>
            <a:normAutofit/>
          </a:bodyPr>
          <a:lstStyle/>
          <a:p>
            <a:pPr algn="ctr"/>
            <a:r>
              <a:rPr lang="en-US" sz="2800" b="1" dirty="0">
                <a:latin typeface="Century Gothic" panose="020B0502020202020204" pitchFamily="34" charset="0"/>
              </a:rPr>
              <a:t>TOTAL NUMBER OF ORDERS BASED ON PLAN TYPE AND CATEGORY</a:t>
            </a:r>
          </a:p>
        </p:txBody>
      </p:sp>
      <p:graphicFrame>
        <p:nvGraphicFramePr>
          <p:cNvPr id="5" name="Content Placeholder 4">
            <a:extLst>
              <a:ext uri="{FF2B5EF4-FFF2-40B4-BE49-F238E27FC236}">
                <a16:creationId xmlns:a16="http://schemas.microsoft.com/office/drawing/2014/main" id="{06819176-22ED-805E-9475-281F57B67D33}"/>
              </a:ext>
            </a:extLst>
          </p:cNvPr>
          <p:cNvGraphicFramePr>
            <a:graphicFrameLocks noGrp="1"/>
          </p:cNvGraphicFramePr>
          <p:nvPr>
            <p:ph idx="1"/>
            <p:extLst>
              <p:ext uri="{D42A27DB-BD31-4B8C-83A1-F6EECF244321}">
                <p14:modId xmlns:p14="http://schemas.microsoft.com/office/powerpoint/2010/main" val="696949077"/>
              </p:ext>
            </p:extLst>
          </p:nvPr>
        </p:nvGraphicFramePr>
        <p:xfrm>
          <a:off x="1135380" y="1409698"/>
          <a:ext cx="9707880" cy="3864989"/>
        </p:xfrm>
        <a:graphic>
          <a:graphicData uri="http://schemas.openxmlformats.org/drawingml/2006/table">
            <a:tbl>
              <a:tblPr/>
              <a:tblGrid>
                <a:gridCol w="3235960">
                  <a:extLst>
                    <a:ext uri="{9D8B030D-6E8A-4147-A177-3AD203B41FA5}">
                      <a16:colId xmlns:a16="http://schemas.microsoft.com/office/drawing/2014/main" val="3674309908"/>
                    </a:ext>
                  </a:extLst>
                </a:gridCol>
                <a:gridCol w="3235960">
                  <a:extLst>
                    <a:ext uri="{9D8B030D-6E8A-4147-A177-3AD203B41FA5}">
                      <a16:colId xmlns:a16="http://schemas.microsoft.com/office/drawing/2014/main" val="3901691827"/>
                    </a:ext>
                  </a:extLst>
                </a:gridCol>
                <a:gridCol w="3235960">
                  <a:extLst>
                    <a:ext uri="{9D8B030D-6E8A-4147-A177-3AD203B41FA5}">
                      <a16:colId xmlns:a16="http://schemas.microsoft.com/office/drawing/2014/main" val="2847375055"/>
                    </a:ext>
                  </a:extLst>
                </a:gridCol>
              </a:tblGrid>
              <a:tr h="456347">
                <a:tc>
                  <a:txBody>
                    <a:bodyPr/>
                    <a:lstStyle/>
                    <a:p>
                      <a:pPr fontAlgn="t">
                        <a:buNone/>
                      </a:pPr>
                      <a:endParaRPr lang="en-US">
                        <a:effectLst/>
                      </a:endParaRPr>
                    </a:p>
                  </a:txBody>
                  <a:tcPr>
                    <a:lnL>
                      <a:noFill/>
                    </a:lnL>
                    <a:lnR>
                      <a:noFill/>
                    </a:lnR>
                    <a:lnT>
                      <a:noFill/>
                    </a:lnT>
                    <a:lnB>
                      <a:noFill/>
                    </a:lnB>
                    <a:noFill/>
                  </a:tcPr>
                </a:tc>
                <a:tc>
                  <a:txBody>
                    <a:bodyPr/>
                    <a:lstStyle/>
                    <a:p>
                      <a:pPr fontAlgn="t">
                        <a:buNone/>
                      </a:pPr>
                      <a:endParaRPr lang="en-US">
                        <a:effectLst/>
                      </a:endParaRPr>
                    </a:p>
                  </a:txBody>
                  <a:tcPr>
                    <a:lnL>
                      <a:noFill/>
                    </a:lnL>
                    <a:lnR>
                      <a:noFill/>
                    </a:lnR>
                    <a:lnT>
                      <a:noFill/>
                    </a:lnT>
                    <a:lnB>
                      <a:noFill/>
                    </a:lnB>
                    <a:noFill/>
                  </a:tcPr>
                </a:tc>
                <a:tc>
                  <a:txBody>
                    <a:bodyPr/>
                    <a:lstStyle/>
                    <a:p>
                      <a:pPr fontAlgn="t">
                        <a:buNone/>
                      </a:pPr>
                      <a:endParaRPr lang="en-US" dirty="0">
                        <a:effectLst/>
                      </a:endParaRPr>
                    </a:p>
                  </a:txBody>
                  <a:tcPr>
                    <a:lnL>
                      <a:noFill/>
                    </a:lnL>
                    <a:lnR>
                      <a:noFill/>
                    </a:lnR>
                    <a:lnT>
                      <a:noFill/>
                    </a:lnT>
                    <a:lnB>
                      <a:noFill/>
                    </a:lnB>
                    <a:noFill/>
                  </a:tcPr>
                </a:tc>
                <a:extLst>
                  <a:ext uri="{0D108BD9-81ED-4DB2-BD59-A6C34878D82A}">
                    <a16:rowId xmlns:a16="http://schemas.microsoft.com/office/drawing/2014/main" val="1070756675"/>
                  </a:ext>
                </a:extLst>
              </a:tr>
              <a:tr h="456347">
                <a:tc>
                  <a:txBody>
                    <a:bodyPr/>
                    <a:lstStyle/>
                    <a:p>
                      <a:pPr fontAlgn="t">
                        <a:buNone/>
                      </a:pPr>
                      <a:r>
                        <a:rPr lang="en-US" sz="1800" b="1" dirty="0">
                          <a:effectLst/>
                          <a:latin typeface="Century Gothic" panose="020B0502020202020204" pitchFamily="34" charset="0"/>
                        </a:rPr>
                        <a:t>Plan Type Category</a:t>
                      </a:r>
                    </a:p>
                  </a:txBody>
                  <a:tcPr>
                    <a:lnL>
                      <a:noFill/>
                    </a:lnL>
                    <a:lnR>
                      <a:noFill/>
                    </a:lnR>
                    <a:lnT>
                      <a:noFill/>
                    </a:lnT>
                    <a:lnB>
                      <a:noFill/>
                    </a:lnB>
                    <a:noFill/>
                  </a:tcPr>
                </a:tc>
                <a:tc>
                  <a:txBody>
                    <a:bodyPr/>
                    <a:lstStyle/>
                    <a:p>
                      <a:pPr fontAlgn="t">
                        <a:buNone/>
                      </a:pPr>
                      <a:r>
                        <a:rPr lang="en-US" sz="2000" b="1" dirty="0">
                          <a:effectLst/>
                          <a:latin typeface="Century Gothic" panose="020B0502020202020204" pitchFamily="34" charset="0"/>
                        </a:rPr>
                        <a:t>Device Category</a:t>
                      </a:r>
                    </a:p>
                  </a:txBody>
                  <a:tcPr>
                    <a:lnL>
                      <a:noFill/>
                    </a:lnL>
                    <a:lnR>
                      <a:noFill/>
                    </a:lnR>
                    <a:lnT>
                      <a:noFill/>
                    </a:lnT>
                    <a:lnB>
                      <a:noFill/>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000" b="1" dirty="0">
                          <a:effectLst/>
                          <a:latin typeface="Century Gothic" panose="020B0502020202020204" pitchFamily="34" charset="0"/>
                        </a:rPr>
                        <a:t>Number of Orders</a:t>
                      </a:r>
                    </a:p>
                    <a:p>
                      <a:pPr fontAlgn="t">
                        <a:buNone/>
                      </a:pPr>
                      <a:endParaRPr lang="en-US" dirty="0">
                        <a:effectLst/>
                      </a:endParaRPr>
                    </a:p>
                  </a:txBody>
                  <a:tcPr>
                    <a:lnL>
                      <a:noFill/>
                    </a:lnL>
                    <a:lnR>
                      <a:noFill/>
                    </a:lnR>
                    <a:lnT>
                      <a:noFill/>
                    </a:lnT>
                    <a:lnB>
                      <a:noFill/>
                    </a:lnB>
                    <a:noFill/>
                  </a:tcPr>
                </a:tc>
                <a:extLst>
                  <a:ext uri="{0D108BD9-81ED-4DB2-BD59-A6C34878D82A}">
                    <a16:rowId xmlns:a16="http://schemas.microsoft.com/office/drawing/2014/main" val="3515929047"/>
                  </a:ext>
                </a:extLst>
              </a:tr>
              <a:tr h="456347">
                <a:tc rowSpan="3">
                  <a:txBody>
                    <a:bodyPr/>
                    <a:lstStyle/>
                    <a:p>
                      <a:pPr fontAlgn="t">
                        <a:buNone/>
                      </a:pPr>
                      <a:r>
                        <a:rPr lang="en-US" dirty="0">
                          <a:effectLst/>
                        </a:rPr>
                        <a:t>Monthly</a:t>
                      </a:r>
                    </a:p>
                  </a:txBody>
                  <a:tcPr>
                    <a:lnL>
                      <a:noFill/>
                    </a:lnL>
                    <a:lnR>
                      <a:noFill/>
                    </a:lnR>
                    <a:lnT>
                      <a:noFill/>
                    </a:lnT>
                    <a:lnB>
                      <a:noFill/>
                    </a:lnB>
                    <a:noFill/>
                  </a:tcPr>
                </a:tc>
                <a:tc>
                  <a:txBody>
                    <a:bodyPr/>
                    <a:lstStyle/>
                    <a:p>
                      <a:pPr fontAlgn="t">
                        <a:buNone/>
                      </a:pPr>
                      <a:r>
                        <a:rPr lang="en-US">
                          <a:effectLst/>
                        </a:rPr>
                        <a:t>Router</a:t>
                      </a:r>
                    </a:p>
                  </a:txBody>
                  <a:tcPr>
                    <a:lnL>
                      <a:noFill/>
                    </a:lnL>
                    <a:lnR>
                      <a:noFill/>
                    </a:lnR>
                    <a:lnT>
                      <a:noFill/>
                    </a:lnT>
                    <a:lnB>
                      <a:noFill/>
                    </a:lnB>
                    <a:noFill/>
                  </a:tcPr>
                </a:tc>
                <a:tc>
                  <a:txBody>
                    <a:bodyPr/>
                    <a:lstStyle/>
                    <a:p>
                      <a:pPr fontAlgn="t">
                        <a:buNone/>
                      </a:pPr>
                      <a:r>
                        <a:rPr lang="en-US">
                          <a:effectLst/>
                        </a:rPr>
                        <a:t>4158</a:t>
                      </a:r>
                    </a:p>
                  </a:txBody>
                  <a:tcPr>
                    <a:lnL>
                      <a:noFill/>
                    </a:lnL>
                    <a:lnR>
                      <a:noFill/>
                    </a:lnR>
                    <a:lnT>
                      <a:noFill/>
                    </a:lnT>
                    <a:lnB>
                      <a:noFill/>
                    </a:lnB>
                    <a:noFill/>
                  </a:tcPr>
                </a:tc>
                <a:extLst>
                  <a:ext uri="{0D108BD9-81ED-4DB2-BD59-A6C34878D82A}">
                    <a16:rowId xmlns:a16="http://schemas.microsoft.com/office/drawing/2014/main" val="2128886650"/>
                  </a:ext>
                </a:extLst>
              </a:tr>
              <a:tr h="456347">
                <a:tc vMerge="1">
                  <a:txBody>
                    <a:bodyPr/>
                    <a:lstStyle/>
                    <a:p>
                      <a:endParaRPr lang="en-US"/>
                    </a:p>
                  </a:txBody>
                  <a:tcPr/>
                </a:tc>
                <a:tc>
                  <a:txBody>
                    <a:bodyPr/>
                    <a:lstStyle/>
                    <a:p>
                      <a:pPr fontAlgn="t">
                        <a:buNone/>
                      </a:pPr>
                      <a:r>
                        <a:rPr lang="en-US">
                          <a:effectLst/>
                        </a:rPr>
                        <a:t>MiFi</a:t>
                      </a:r>
                    </a:p>
                  </a:txBody>
                  <a:tcPr>
                    <a:lnL>
                      <a:noFill/>
                    </a:lnL>
                    <a:lnR>
                      <a:noFill/>
                    </a:lnR>
                    <a:lnT>
                      <a:noFill/>
                    </a:lnT>
                    <a:lnB>
                      <a:noFill/>
                    </a:lnB>
                    <a:noFill/>
                  </a:tcPr>
                </a:tc>
                <a:tc>
                  <a:txBody>
                    <a:bodyPr/>
                    <a:lstStyle/>
                    <a:p>
                      <a:pPr fontAlgn="t">
                        <a:buNone/>
                      </a:pPr>
                      <a:r>
                        <a:rPr lang="en-US">
                          <a:effectLst/>
                        </a:rPr>
                        <a:t>2556</a:t>
                      </a:r>
                    </a:p>
                  </a:txBody>
                  <a:tcPr>
                    <a:lnL>
                      <a:noFill/>
                    </a:lnL>
                    <a:lnR>
                      <a:noFill/>
                    </a:lnR>
                    <a:lnT>
                      <a:noFill/>
                    </a:lnT>
                    <a:lnB>
                      <a:noFill/>
                    </a:lnB>
                    <a:noFill/>
                  </a:tcPr>
                </a:tc>
                <a:extLst>
                  <a:ext uri="{0D108BD9-81ED-4DB2-BD59-A6C34878D82A}">
                    <a16:rowId xmlns:a16="http://schemas.microsoft.com/office/drawing/2014/main" val="456532067"/>
                  </a:ext>
                </a:extLst>
              </a:tr>
              <a:tr h="456347">
                <a:tc vMerge="1">
                  <a:txBody>
                    <a:bodyPr/>
                    <a:lstStyle/>
                    <a:p>
                      <a:endParaRPr lang="en-US"/>
                    </a:p>
                  </a:txBody>
                  <a:tcPr/>
                </a:tc>
                <a:tc>
                  <a:txBody>
                    <a:bodyPr/>
                    <a:lstStyle/>
                    <a:p>
                      <a:pPr fontAlgn="t">
                        <a:buNone/>
                      </a:pPr>
                      <a:r>
                        <a:rPr lang="en-US">
                          <a:effectLst/>
                        </a:rPr>
                        <a:t>Mobile SIM</a:t>
                      </a:r>
                    </a:p>
                  </a:txBody>
                  <a:tcPr>
                    <a:lnL>
                      <a:noFill/>
                    </a:lnL>
                    <a:lnR>
                      <a:noFill/>
                    </a:lnR>
                    <a:lnT>
                      <a:noFill/>
                    </a:lnT>
                    <a:lnB>
                      <a:noFill/>
                    </a:lnB>
                    <a:noFill/>
                  </a:tcPr>
                </a:tc>
                <a:tc>
                  <a:txBody>
                    <a:bodyPr/>
                    <a:lstStyle/>
                    <a:p>
                      <a:pPr fontAlgn="t">
                        <a:buNone/>
                      </a:pPr>
                      <a:r>
                        <a:rPr lang="en-US">
                          <a:effectLst/>
                        </a:rPr>
                        <a:t>1513</a:t>
                      </a:r>
                    </a:p>
                  </a:txBody>
                  <a:tcPr>
                    <a:lnL>
                      <a:noFill/>
                    </a:lnL>
                    <a:lnR>
                      <a:noFill/>
                    </a:lnR>
                    <a:lnT>
                      <a:noFill/>
                    </a:lnT>
                    <a:lnB>
                      <a:noFill/>
                    </a:lnB>
                    <a:noFill/>
                  </a:tcPr>
                </a:tc>
                <a:extLst>
                  <a:ext uri="{0D108BD9-81ED-4DB2-BD59-A6C34878D82A}">
                    <a16:rowId xmlns:a16="http://schemas.microsoft.com/office/drawing/2014/main" val="212463645"/>
                  </a:ext>
                </a:extLst>
              </a:tr>
              <a:tr h="456347">
                <a:tc>
                  <a:txBody>
                    <a:bodyPr/>
                    <a:lstStyle/>
                    <a:p>
                      <a:pPr fontAlgn="t">
                        <a:buNone/>
                      </a:pPr>
                      <a:r>
                        <a:rPr lang="en-US" dirty="0">
                          <a:effectLst/>
                        </a:rPr>
                        <a:t>Other</a:t>
                      </a:r>
                    </a:p>
                  </a:txBody>
                  <a:tcPr>
                    <a:lnL>
                      <a:noFill/>
                    </a:lnL>
                    <a:lnR>
                      <a:noFill/>
                    </a:lnR>
                    <a:lnT>
                      <a:noFill/>
                    </a:lnT>
                    <a:lnB>
                      <a:noFill/>
                    </a:lnB>
                    <a:noFill/>
                  </a:tcPr>
                </a:tc>
                <a:tc>
                  <a:txBody>
                    <a:bodyPr/>
                    <a:lstStyle/>
                    <a:p>
                      <a:pPr fontAlgn="t">
                        <a:buNone/>
                      </a:pPr>
                      <a:r>
                        <a:rPr lang="en-US">
                          <a:effectLst/>
                        </a:rPr>
                        <a:t>Mobile SIM</a:t>
                      </a:r>
                    </a:p>
                  </a:txBody>
                  <a:tcPr>
                    <a:lnL>
                      <a:noFill/>
                    </a:lnL>
                    <a:lnR>
                      <a:noFill/>
                    </a:lnR>
                    <a:lnT>
                      <a:noFill/>
                    </a:lnT>
                    <a:lnB>
                      <a:noFill/>
                    </a:lnB>
                    <a:noFill/>
                  </a:tcPr>
                </a:tc>
                <a:tc>
                  <a:txBody>
                    <a:bodyPr/>
                    <a:lstStyle/>
                    <a:p>
                      <a:pPr fontAlgn="t">
                        <a:buNone/>
                      </a:pPr>
                      <a:r>
                        <a:rPr lang="en-US">
                          <a:effectLst/>
                        </a:rPr>
                        <a:t>995</a:t>
                      </a:r>
                    </a:p>
                  </a:txBody>
                  <a:tcPr>
                    <a:lnL>
                      <a:noFill/>
                    </a:lnL>
                    <a:lnR>
                      <a:noFill/>
                    </a:lnR>
                    <a:lnT>
                      <a:noFill/>
                    </a:lnT>
                    <a:lnB>
                      <a:noFill/>
                    </a:lnB>
                    <a:noFill/>
                  </a:tcPr>
                </a:tc>
                <a:extLst>
                  <a:ext uri="{0D108BD9-81ED-4DB2-BD59-A6C34878D82A}">
                    <a16:rowId xmlns:a16="http://schemas.microsoft.com/office/drawing/2014/main" val="3540007395"/>
                  </a:ext>
                </a:extLst>
              </a:tr>
              <a:tr h="456347">
                <a:tc>
                  <a:txBody>
                    <a:bodyPr/>
                    <a:lstStyle/>
                    <a:p>
                      <a:pPr fontAlgn="t">
                        <a:buNone/>
                      </a:pPr>
                      <a:r>
                        <a:rPr lang="en-US">
                          <a:effectLst/>
                        </a:rPr>
                        <a:t>Daily</a:t>
                      </a:r>
                    </a:p>
                  </a:txBody>
                  <a:tcPr>
                    <a:lnL>
                      <a:noFill/>
                    </a:lnL>
                    <a:lnR>
                      <a:noFill/>
                    </a:lnR>
                    <a:lnT>
                      <a:noFill/>
                    </a:lnT>
                    <a:lnB>
                      <a:noFill/>
                    </a:lnB>
                    <a:noFill/>
                  </a:tcPr>
                </a:tc>
                <a:tc>
                  <a:txBody>
                    <a:bodyPr/>
                    <a:lstStyle/>
                    <a:p>
                      <a:pPr fontAlgn="t">
                        <a:buNone/>
                      </a:pPr>
                      <a:r>
                        <a:rPr lang="en-US">
                          <a:effectLst/>
                        </a:rPr>
                        <a:t>Mobile SIM</a:t>
                      </a:r>
                    </a:p>
                  </a:txBody>
                  <a:tcPr>
                    <a:lnL>
                      <a:noFill/>
                    </a:lnL>
                    <a:lnR>
                      <a:noFill/>
                    </a:lnR>
                    <a:lnT>
                      <a:noFill/>
                    </a:lnT>
                    <a:lnB>
                      <a:noFill/>
                    </a:lnB>
                    <a:noFill/>
                  </a:tcPr>
                </a:tc>
                <a:tc>
                  <a:txBody>
                    <a:bodyPr/>
                    <a:lstStyle/>
                    <a:p>
                      <a:pPr fontAlgn="t">
                        <a:buNone/>
                      </a:pPr>
                      <a:r>
                        <a:rPr lang="en-US">
                          <a:effectLst/>
                        </a:rPr>
                        <a:t>555</a:t>
                      </a:r>
                    </a:p>
                  </a:txBody>
                  <a:tcPr>
                    <a:lnL>
                      <a:noFill/>
                    </a:lnL>
                    <a:lnR>
                      <a:noFill/>
                    </a:lnR>
                    <a:lnT>
                      <a:noFill/>
                    </a:lnT>
                    <a:lnB>
                      <a:noFill/>
                    </a:lnB>
                    <a:noFill/>
                  </a:tcPr>
                </a:tc>
                <a:extLst>
                  <a:ext uri="{0D108BD9-81ED-4DB2-BD59-A6C34878D82A}">
                    <a16:rowId xmlns:a16="http://schemas.microsoft.com/office/drawing/2014/main" val="3430874200"/>
                  </a:ext>
                </a:extLst>
              </a:tr>
              <a:tr h="456347">
                <a:tc>
                  <a:txBody>
                    <a:bodyPr/>
                    <a:lstStyle/>
                    <a:p>
                      <a:pPr fontAlgn="t">
                        <a:buNone/>
                      </a:pPr>
                      <a:r>
                        <a:rPr lang="en-US">
                          <a:effectLst/>
                        </a:rPr>
                        <a:t>Other</a:t>
                      </a:r>
                    </a:p>
                  </a:txBody>
                  <a:tcPr>
                    <a:lnL>
                      <a:noFill/>
                    </a:lnL>
                    <a:lnR>
                      <a:noFill/>
                    </a:lnR>
                    <a:lnT>
                      <a:noFill/>
                    </a:lnT>
                    <a:lnB>
                      <a:noFill/>
                    </a:lnB>
                    <a:noFill/>
                  </a:tcPr>
                </a:tc>
                <a:tc>
                  <a:txBody>
                    <a:bodyPr/>
                    <a:lstStyle/>
                    <a:p>
                      <a:pPr fontAlgn="t">
                        <a:buNone/>
                      </a:pPr>
                      <a:r>
                        <a:rPr lang="en-US">
                          <a:effectLst/>
                        </a:rPr>
                        <a:t>Router</a:t>
                      </a:r>
                    </a:p>
                  </a:txBody>
                  <a:tcPr>
                    <a:lnL>
                      <a:noFill/>
                    </a:lnL>
                    <a:lnR>
                      <a:noFill/>
                    </a:lnR>
                    <a:lnT>
                      <a:noFill/>
                    </a:lnT>
                    <a:lnB>
                      <a:noFill/>
                    </a:lnB>
                    <a:noFill/>
                  </a:tcPr>
                </a:tc>
                <a:tc>
                  <a:txBody>
                    <a:bodyPr/>
                    <a:lstStyle/>
                    <a:p>
                      <a:pPr fontAlgn="t">
                        <a:buNone/>
                      </a:pPr>
                      <a:r>
                        <a:rPr lang="en-US" dirty="0">
                          <a:effectLst/>
                        </a:rPr>
                        <a:t>513</a:t>
                      </a:r>
                    </a:p>
                  </a:txBody>
                  <a:tcPr>
                    <a:lnL>
                      <a:noFill/>
                    </a:lnL>
                    <a:lnR>
                      <a:noFill/>
                    </a:lnR>
                    <a:lnT>
                      <a:noFill/>
                    </a:lnT>
                    <a:lnB>
                      <a:noFill/>
                    </a:lnB>
                    <a:noFill/>
                  </a:tcPr>
                </a:tc>
                <a:extLst>
                  <a:ext uri="{0D108BD9-81ED-4DB2-BD59-A6C34878D82A}">
                    <a16:rowId xmlns:a16="http://schemas.microsoft.com/office/drawing/2014/main" val="3269723055"/>
                  </a:ext>
                </a:extLst>
              </a:tr>
            </a:tbl>
          </a:graphicData>
        </a:graphic>
      </p:graphicFrame>
      <p:sp>
        <p:nvSpPr>
          <p:cNvPr id="6" name="Rectangle 1">
            <a:extLst>
              <a:ext uri="{FF2B5EF4-FFF2-40B4-BE49-F238E27FC236}">
                <a16:creationId xmlns:a16="http://schemas.microsoft.com/office/drawing/2014/main" id="{DD3B3A63-9423-6A36-E74B-4A5FE1C03C43}"/>
              </a:ext>
            </a:extLst>
          </p:cNvPr>
          <p:cNvSpPr>
            <a:spLocks noChangeArrowheads="1"/>
          </p:cNvSpPr>
          <p:nvPr/>
        </p:nvSpPr>
        <p:spPr bwMode="auto">
          <a:xfrm>
            <a:off x="379784" y="-403860"/>
            <a:ext cx="112555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25392"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80444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C88EDF-EB41-CE53-B815-FD1C19F6C9F6}"/>
              </a:ext>
            </a:extLst>
          </p:cNvPr>
          <p:cNvSpPr>
            <a:spLocks noGrp="1"/>
          </p:cNvSpPr>
          <p:nvPr>
            <p:ph type="title"/>
          </p:nvPr>
        </p:nvSpPr>
        <p:spPr/>
        <p:txBody>
          <a:bodyPr>
            <a:normAutofit/>
          </a:bodyPr>
          <a:lstStyle/>
          <a:p>
            <a:r>
              <a:rPr lang="en-US" sz="3600" b="1" dirty="0">
                <a:latin typeface="Century Gothic" panose="020B0502020202020204" pitchFamily="34" charset="0"/>
              </a:rPr>
              <a:t>TOTAL NUMBER OF ORDERS/TOTAL REVENUE BY SUBSCRIPTION PLAN(TOP 10)</a:t>
            </a:r>
          </a:p>
        </p:txBody>
      </p:sp>
      <p:graphicFrame>
        <p:nvGraphicFramePr>
          <p:cNvPr id="5" name="Table 4">
            <a:extLst>
              <a:ext uri="{FF2B5EF4-FFF2-40B4-BE49-F238E27FC236}">
                <a16:creationId xmlns:a16="http://schemas.microsoft.com/office/drawing/2014/main" id="{42AB7703-7275-C661-15FF-385CE3897B87}"/>
              </a:ext>
            </a:extLst>
          </p:cNvPr>
          <p:cNvGraphicFramePr>
            <a:graphicFrameLocks noGrp="1"/>
          </p:cNvGraphicFramePr>
          <p:nvPr>
            <p:extLst>
              <p:ext uri="{D42A27DB-BD31-4B8C-83A1-F6EECF244321}">
                <p14:modId xmlns:p14="http://schemas.microsoft.com/office/powerpoint/2010/main" val="1717587156"/>
              </p:ext>
            </p:extLst>
          </p:nvPr>
        </p:nvGraphicFramePr>
        <p:xfrm>
          <a:off x="896112" y="1517904"/>
          <a:ext cx="10412428" cy="5257800"/>
        </p:xfrm>
        <a:graphic>
          <a:graphicData uri="http://schemas.openxmlformats.org/drawingml/2006/table">
            <a:tbl>
              <a:tblPr/>
              <a:tblGrid>
                <a:gridCol w="3462374">
                  <a:extLst>
                    <a:ext uri="{9D8B030D-6E8A-4147-A177-3AD203B41FA5}">
                      <a16:colId xmlns:a16="http://schemas.microsoft.com/office/drawing/2014/main" val="4260453784"/>
                    </a:ext>
                  </a:extLst>
                </a:gridCol>
                <a:gridCol w="3475027">
                  <a:extLst>
                    <a:ext uri="{9D8B030D-6E8A-4147-A177-3AD203B41FA5}">
                      <a16:colId xmlns:a16="http://schemas.microsoft.com/office/drawing/2014/main" val="909989989"/>
                    </a:ext>
                  </a:extLst>
                </a:gridCol>
                <a:gridCol w="3475027">
                  <a:extLst>
                    <a:ext uri="{9D8B030D-6E8A-4147-A177-3AD203B41FA5}">
                      <a16:colId xmlns:a16="http://schemas.microsoft.com/office/drawing/2014/main" val="2485029323"/>
                    </a:ext>
                  </a:extLst>
                </a:gridCol>
              </a:tblGrid>
              <a:tr h="368843">
                <a:tc>
                  <a:txBody>
                    <a:bodyPr/>
                    <a:lstStyle/>
                    <a:p>
                      <a:pPr fontAlgn="t">
                        <a:buNone/>
                      </a:pPr>
                      <a:endParaRPr lang="en-US" sz="1800" dirty="0">
                        <a:effectLst/>
                        <a:latin typeface="Century Gothic" panose="020B0502020202020204" pitchFamily="34" charset="0"/>
                      </a:endParaRPr>
                    </a:p>
                  </a:txBody>
                  <a:tcPr marL="90653" marR="90653" marT="45326" marB="45326">
                    <a:lnL>
                      <a:noFill/>
                    </a:lnL>
                    <a:lnR>
                      <a:noFill/>
                    </a:lnR>
                    <a:lnT>
                      <a:noFill/>
                    </a:lnT>
                    <a:lnB>
                      <a:noFill/>
                    </a:lnB>
                    <a:noFill/>
                  </a:tcPr>
                </a:tc>
                <a:tc>
                  <a:txBody>
                    <a:bodyPr/>
                    <a:lstStyle/>
                    <a:p>
                      <a:pPr fontAlgn="t">
                        <a:buNone/>
                      </a:pPr>
                      <a:r>
                        <a:rPr lang="en-US" sz="1800" b="1" dirty="0" err="1">
                          <a:effectLst/>
                          <a:latin typeface="Century Gothic" panose="020B0502020202020204" pitchFamily="34" charset="0"/>
                        </a:rPr>
                        <a:t>Total_number_of_orders</a:t>
                      </a:r>
                      <a:endParaRPr lang="en-US" sz="1800" b="1" dirty="0">
                        <a:effectLst/>
                        <a:latin typeface="Century Gothic" panose="020B0502020202020204" pitchFamily="34" charset="0"/>
                      </a:endParaRPr>
                    </a:p>
                  </a:txBody>
                  <a:tcPr marL="90653" marR="90653" marT="45326" marB="45326">
                    <a:lnL>
                      <a:noFill/>
                    </a:lnL>
                    <a:lnR>
                      <a:noFill/>
                    </a:lnR>
                    <a:lnT>
                      <a:noFill/>
                    </a:lnT>
                    <a:lnB>
                      <a:noFill/>
                    </a:lnB>
                    <a:noFill/>
                  </a:tcPr>
                </a:tc>
                <a:tc>
                  <a:txBody>
                    <a:bodyPr/>
                    <a:lstStyle/>
                    <a:p>
                      <a:pPr fontAlgn="t">
                        <a:buNone/>
                      </a:pPr>
                      <a:r>
                        <a:rPr lang="en-US" sz="1800" b="1" dirty="0" err="1">
                          <a:effectLst/>
                          <a:latin typeface="Century Gothic" panose="020B0502020202020204" pitchFamily="34" charset="0"/>
                        </a:rPr>
                        <a:t>Total_Revenue</a:t>
                      </a:r>
                      <a:endParaRPr lang="en-US" sz="1800" b="1" dirty="0">
                        <a:effectLst/>
                        <a:latin typeface="Century Gothic" panose="020B0502020202020204" pitchFamily="34" charset="0"/>
                      </a:endParaRPr>
                    </a:p>
                  </a:txBody>
                  <a:tcPr marL="90653" marR="90653" marT="45326" marB="45326">
                    <a:lnL>
                      <a:noFill/>
                    </a:lnL>
                    <a:lnR>
                      <a:noFill/>
                    </a:lnR>
                    <a:lnT>
                      <a:noFill/>
                    </a:lnT>
                    <a:lnB>
                      <a:noFill/>
                    </a:lnB>
                    <a:noFill/>
                  </a:tcPr>
                </a:tc>
                <a:extLst>
                  <a:ext uri="{0D108BD9-81ED-4DB2-BD59-A6C34878D82A}">
                    <a16:rowId xmlns:a16="http://schemas.microsoft.com/office/drawing/2014/main" val="4045846083"/>
                  </a:ext>
                </a:extLst>
              </a:tr>
              <a:tr h="368843">
                <a:tc>
                  <a:txBody>
                    <a:bodyPr/>
                    <a:lstStyle/>
                    <a:p>
                      <a:pPr fontAlgn="t">
                        <a:buNone/>
                      </a:pPr>
                      <a:r>
                        <a:rPr lang="en-US" sz="1800" b="1" dirty="0">
                          <a:effectLst/>
                          <a:latin typeface="Century Gothic" panose="020B0502020202020204" pitchFamily="34" charset="0"/>
                        </a:rPr>
                        <a:t>Subscription Plan</a:t>
                      </a:r>
                    </a:p>
                  </a:txBody>
                  <a:tcPr marL="90653" marR="90653" marT="45326" marB="45326">
                    <a:lnL>
                      <a:noFill/>
                    </a:lnL>
                    <a:lnR>
                      <a:noFill/>
                    </a:lnR>
                    <a:lnT>
                      <a:noFill/>
                    </a:lnT>
                    <a:lnB>
                      <a:noFill/>
                    </a:lnB>
                    <a:noFill/>
                  </a:tcPr>
                </a:tc>
                <a:tc>
                  <a:txBody>
                    <a:bodyPr/>
                    <a:lstStyle/>
                    <a:p>
                      <a:pPr fontAlgn="t">
                        <a:buNone/>
                      </a:pPr>
                      <a:endParaRPr lang="en-US" sz="1800" dirty="0">
                        <a:effectLst/>
                        <a:latin typeface="Century Gothic" panose="020B0502020202020204" pitchFamily="34" charset="0"/>
                      </a:endParaRPr>
                    </a:p>
                  </a:txBody>
                  <a:tcPr marL="90653" marR="90653" marT="45326" marB="45326">
                    <a:lnL>
                      <a:noFill/>
                    </a:lnL>
                    <a:lnR>
                      <a:noFill/>
                    </a:lnR>
                    <a:lnT>
                      <a:noFill/>
                    </a:lnT>
                    <a:lnB>
                      <a:noFill/>
                    </a:lnB>
                    <a:noFill/>
                  </a:tcPr>
                </a:tc>
                <a:tc>
                  <a:txBody>
                    <a:bodyPr/>
                    <a:lstStyle/>
                    <a:p>
                      <a:pPr fontAlgn="t">
                        <a:buNone/>
                      </a:pPr>
                      <a:endParaRPr lang="en-US" sz="1800">
                        <a:effectLst/>
                        <a:latin typeface="Century Gothic" panose="020B0502020202020204" pitchFamily="34" charset="0"/>
                      </a:endParaRPr>
                    </a:p>
                  </a:txBody>
                  <a:tcPr marL="90653" marR="90653" marT="45326" marB="45326">
                    <a:lnL>
                      <a:noFill/>
                    </a:lnL>
                    <a:lnR>
                      <a:noFill/>
                    </a:lnR>
                    <a:lnT>
                      <a:noFill/>
                    </a:lnT>
                    <a:lnB>
                      <a:noFill/>
                    </a:lnB>
                    <a:noFill/>
                  </a:tcPr>
                </a:tc>
                <a:extLst>
                  <a:ext uri="{0D108BD9-81ED-4DB2-BD59-A6C34878D82A}">
                    <a16:rowId xmlns:a16="http://schemas.microsoft.com/office/drawing/2014/main" val="679053861"/>
                  </a:ext>
                </a:extLst>
              </a:tr>
              <a:tr h="368843">
                <a:tc>
                  <a:txBody>
                    <a:bodyPr/>
                    <a:lstStyle/>
                    <a:p>
                      <a:pPr fontAlgn="t">
                        <a:buNone/>
                      </a:pPr>
                      <a:r>
                        <a:rPr lang="en-US" sz="1800" dirty="0">
                          <a:effectLst/>
                          <a:latin typeface="Century Gothic" panose="020B0502020202020204" pitchFamily="34" charset="0"/>
                        </a:rPr>
                        <a:t>150GB FUP Monthly Unlimited</a:t>
                      </a:r>
                    </a:p>
                  </a:txBody>
                  <a:tcPr marL="90653" marR="90653" marT="45326" marB="45326">
                    <a:lnL>
                      <a:noFill/>
                    </a:lnL>
                    <a:lnR>
                      <a:noFill/>
                    </a:lnR>
                    <a:lnT>
                      <a:noFill/>
                    </a:lnT>
                    <a:lnB>
                      <a:noFill/>
                    </a:lnB>
                    <a:noFill/>
                  </a:tcPr>
                </a:tc>
                <a:tc>
                  <a:txBody>
                    <a:bodyPr/>
                    <a:lstStyle/>
                    <a:p>
                      <a:pPr fontAlgn="t">
                        <a:buNone/>
                      </a:pPr>
                      <a:r>
                        <a:rPr lang="en-US" sz="1800" dirty="0">
                          <a:solidFill>
                            <a:srgbClr val="FF0000"/>
                          </a:solidFill>
                          <a:effectLst/>
                          <a:latin typeface="Century Gothic" panose="020B0502020202020204" pitchFamily="34" charset="0"/>
                        </a:rPr>
                        <a:t>949</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18,980,000</a:t>
                      </a:r>
                    </a:p>
                  </a:txBody>
                  <a:tcPr marL="90653" marR="90653" marT="45326" marB="45326">
                    <a:lnL>
                      <a:noFill/>
                    </a:lnL>
                    <a:lnR>
                      <a:noFill/>
                    </a:lnR>
                    <a:lnT>
                      <a:noFill/>
                    </a:lnT>
                    <a:lnB>
                      <a:noFill/>
                    </a:lnB>
                    <a:noFill/>
                  </a:tcPr>
                </a:tc>
                <a:extLst>
                  <a:ext uri="{0D108BD9-81ED-4DB2-BD59-A6C34878D82A}">
                    <a16:rowId xmlns:a16="http://schemas.microsoft.com/office/drawing/2014/main" val="4270299363"/>
                  </a:ext>
                </a:extLst>
              </a:tr>
              <a:tr h="646071">
                <a:tc>
                  <a:txBody>
                    <a:bodyPr/>
                    <a:lstStyle/>
                    <a:p>
                      <a:pPr fontAlgn="t">
                        <a:buNone/>
                      </a:pPr>
                      <a:r>
                        <a:rPr lang="en-US" sz="1800">
                          <a:effectLst/>
                          <a:latin typeface="Century Gothic" panose="020B0502020202020204" pitchFamily="34" charset="0"/>
                        </a:rPr>
                        <a:t>60GB Monthly Broadband Plan</a:t>
                      </a:r>
                    </a:p>
                  </a:txBody>
                  <a:tcPr marL="90653" marR="90653" marT="45326" marB="45326">
                    <a:lnL>
                      <a:noFill/>
                    </a:lnL>
                    <a:lnR>
                      <a:noFill/>
                    </a:lnR>
                    <a:lnT>
                      <a:noFill/>
                    </a:lnT>
                    <a:lnB>
                      <a:noFill/>
                    </a:lnB>
                    <a:noFill/>
                  </a:tcPr>
                </a:tc>
                <a:tc>
                  <a:txBody>
                    <a:bodyPr/>
                    <a:lstStyle/>
                    <a:p>
                      <a:pPr fontAlgn="t">
                        <a:buNone/>
                      </a:pPr>
                      <a:r>
                        <a:rPr lang="en-US" sz="1800">
                          <a:effectLst/>
                          <a:latin typeface="Century Gothic" panose="020B0502020202020204" pitchFamily="34" charset="0"/>
                        </a:rPr>
                        <a:t>909</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13,180,500</a:t>
                      </a:r>
                    </a:p>
                  </a:txBody>
                  <a:tcPr marL="90653" marR="90653" marT="45326" marB="45326">
                    <a:lnL>
                      <a:noFill/>
                    </a:lnL>
                    <a:lnR>
                      <a:noFill/>
                    </a:lnR>
                    <a:lnT>
                      <a:noFill/>
                    </a:lnT>
                    <a:lnB>
                      <a:noFill/>
                    </a:lnB>
                    <a:noFill/>
                  </a:tcPr>
                </a:tc>
                <a:extLst>
                  <a:ext uri="{0D108BD9-81ED-4DB2-BD59-A6C34878D82A}">
                    <a16:rowId xmlns:a16="http://schemas.microsoft.com/office/drawing/2014/main" val="829815508"/>
                  </a:ext>
                </a:extLst>
              </a:tr>
              <a:tr h="646071">
                <a:tc>
                  <a:txBody>
                    <a:bodyPr/>
                    <a:lstStyle/>
                    <a:p>
                      <a:pPr fontAlgn="t">
                        <a:buNone/>
                      </a:pPr>
                      <a:r>
                        <a:rPr lang="en-US" sz="1800">
                          <a:effectLst/>
                          <a:latin typeface="Century Gothic" panose="020B0502020202020204" pitchFamily="34" charset="0"/>
                        </a:rPr>
                        <a:t>30GB Monthly Broadband Plan</a:t>
                      </a:r>
                    </a:p>
                  </a:txBody>
                  <a:tcPr marL="90653" marR="90653" marT="45326" marB="45326">
                    <a:lnL>
                      <a:noFill/>
                    </a:lnL>
                    <a:lnR>
                      <a:noFill/>
                    </a:lnR>
                    <a:lnT>
                      <a:noFill/>
                    </a:lnT>
                    <a:lnB>
                      <a:noFill/>
                    </a:lnB>
                    <a:noFill/>
                  </a:tcPr>
                </a:tc>
                <a:tc>
                  <a:txBody>
                    <a:bodyPr/>
                    <a:lstStyle/>
                    <a:p>
                      <a:pPr fontAlgn="t">
                        <a:buNone/>
                      </a:pPr>
                      <a:r>
                        <a:rPr lang="en-US" sz="1800">
                          <a:effectLst/>
                          <a:latin typeface="Century Gothic" panose="020B0502020202020204" pitchFamily="34" charset="0"/>
                        </a:rPr>
                        <a:t>880</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7,920,000</a:t>
                      </a:r>
                    </a:p>
                  </a:txBody>
                  <a:tcPr marL="90653" marR="90653" marT="45326" marB="45326">
                    <a:lnL>
                      <a:noFill/>
                    </a:lnL>
                    <a:lnR>
                      <a:noFill/>
                    </a:lnR>
                    <a:lnT>
                      <a:noFill/>
                    </a:lnT>
                    <a:lnB>
                      <a:noFill/>
                    </a:lnB>
                    <a:noFill/>
                  </a:tcPr>
                </a:tc>
                <a:extLst>
                  <a:ext uri="{0D108BD9-81ED-4DB2-BD59-A6C34878D82A}">
                    <a16:rowId xmlns:a16="http://schemas.microsoft.com/office/drawing/2014/main" val="3804740181"/>
                  </a:ext>
                </a:extLst>
              </a:tr>
              <a:tr h="368843">
                <a:tc>
                  <a:txBody>
                    <a:bodyPr/>
                    <a:lstStyle/>
                    <a:p>
                      <a:pPr fontAlgn="t">
                        <a:buNone/>
                      </a:pPr>
                      <a:r>
                        <a:rPr lang="en-US" sz="1800">
                          <a:effectLst/>
                          <a:latin typeface="Century Gothic" panose="020B0502020202020204" pitchFamily="34" charset="0"/>
                        </a:rPr>
                        <a:t>300GB FUP Monthly Unlimited</a:t>
                      </a:r>
                    </a:p>
                  </a:txBody>
                  <a:tcPr marL="90653" marR="90653" marT="45326" marB="45326">
                    <a:lnL>
                      <a:noFill/>
                    </a:lnL>
                    <a:lnR>
                      <a:noFill/>
                    </a:lnR>
                    <a:lnT>
                      <a:noFill/>
                    </a:lnT>
                    <a:lnB>
                      <a:noFill/>
                    </a:lnB>
                    <a:noFill/>
                  </a:tcPr>
                </a:tc>
                <a:tc>
                  <a:txBody>
                    <a:bodyPr/>
                    <a:lstStyle/>
                    <a:p>
                      <a:pPr fontAlgn="t">
                        <a:buNone/>
                      </a:pPr>
                      <a:r>
                        <a:rPr lang="en-US" sz="1800">
                          <a:effectLst/>
                          <a:latin typeface="Century Gothic" panose="020B0502020202020204" pitchFamily="34" charset="0"/>
                        </a:rPr>
                        <a:t>859</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25,770,000</a:t>
                      </a:r>
                    </a:p>
                  </a:txBody>
                  <a:tcPr marL="90653" marR="90653" marT="45326" marB="45326">
                    <a:lnL>
                      <a:noFill/>
                    </a:lnL>
                    <a:lnR>
                      <a:noFill/>
                    </a:lnR>
                    <a:lnT>
                      <a:noFill/>
                    </a:lnT>
                    <a:lnB>
                      <a:noFill/>
                    </a:lnB>
                    <a:noFill/>
                  </a:tcPr>
                </a:tc>
                <a:extLst>
                  <a:ext uri="{0D108BD9-81ED-4DB2-BD59-A6C34878D82A}">
                    <a16:rowId xmlns:a16="http://schemas.microsoft.com/office/drawing/2014/main" val="2602652105"/>
                  </a:ext>
                </a:extLst>
              </a:tr>
              <a:tr h="368843">
                <a:tc>
                  <a:txBody>
                    <a:bodyPr/>
                    <a:lstStyle/>
                    <a:p>
                      <a:pPr fontAlgn="t">
                        <a:buNone/>
                      </a:pPr>
                      <a:r>
                        <a:rPr lang="en-US" sz="1800">
                          <a:effectLst/>
                          <a:latin typeface="Century Gothic" panose="020B0502020202020204" pitchFamily="34" charset="0"/>
                        </a:rPr>
                        <a:t>165GB Monthly Plan</a:t>
                      </a:r>
                    </a:p>
                  </a:txBody>
                  <a:tcPr marL="90653" marR="90653" marT="45326" marB="45326">
                    <a:lnL>
                      <a:noFill/>
                    </a:lnL>
                    <a:lnR>
                      <a:noFill/>
                    </a:lnR>
                    <a:lnT>
                      <a:noFill/>
                    </a:lnT>
                    <a:lnB>
                      <a:noFill/>
                    </a:lnB>
                    <a:noFill/>
                  </a:tcPr>
                </a:tc>
                <a:tc>
                  <a:txBody>
                    <a:bodyPr/>
                    <a:lstStyle/>
                    <a:p>
                      <a:pPr fontAlgn="t">
                        <a:buNone/>
                      </a:pPr>
                      <a:r>
                        <a:rPr lang="en-US" sz="1800">
                          <a:effectLst/>
                          <a:latin typeface="Century Gothic" panose="020B0502020202020204" pitchFamily="34" charset="0"/>
                        </a:rPr>
                        <a:t>750</a:t>
                      </a:r>
                    </a:p>
                  </a:txBody>
                  <a:tcPr marL="90653" marR="90653" marT="45326" marB="45326">
                    <a:lnL>
                      <a:noFill/>
                    </a:lnL>
                    <a:lnR>
                      <a:noFill/>
                    </a:lnR>
                    <a:lnT>
                      <a:noFill/>
                    </a:lnT>
                    <a:lnB>
                      <a:noFill/>
                    </a:lnB>
                    <a:noFill/>
                  </a:tcPr>
                </a:tc>
                <a:tc>
                  <a:txBody>
                    <a:bodyPr/>
                    <a:lstStyle/>
                    <a:p>
                      <a:pPr fontAlgn="t">
                        <a:buNone/>
                      </a:pPr>
                      <a:r>
                        <a:rPr lang="en-US" sz="1800" dirty="0">
                          <a:solidFill>
                            <a:srgbClr val="FF0000"/>
                          </a:solidFill>
                          <a:effectLst/>
                          <a:latin typeface="Century Gothic" panose="020B0502020202020204" pitchFamily="34" charset="0"/>
                        </a:rPr>
                        <a:t>26,250,000</a:t>
                      </a:r>
                    </a:p>
                  </a:txBody>
                  <a:tcPr marL="90653" marR="90653" marT="45326" marB="45326">
                    <a:lnL>
                      <a:noFill/>
                    </a:lnL>
                    <a:lnR>
                      <a:noFill/>
                    </a:lnR>
                    <a:lnT>
                      <a:noFill/>
                    </a:lnT>
                    <a:lnB>
                      <a:noFill/>
                    </a:lnB>
                    <a:noFill/>
                  </a:tcPr>
                </a:tc>
                <a:extLst>
                  <a:ext uri="{0D108BD9-81ED-4DB2-BD59-A6C34878D82A}">
                    <a16:rowId xmlns:a16="http://schemas.microsoft.com/office/drawing/2014/main" val="4066661929"/>
                  </a:ext>
                </a:extLst>
              </a:tr>
              <a:tr h="646071">
                <a:tc>
                  <a:txBody>
                    <a:bodyPr/>
                    <a:lstStyle/>
                    <a:p>
                      <a:pPr fontAlgn="t">
                        <a:buNone/>
                      </a:pPr>
                      <a:r>
                        <a:rPr lang="en-US" sz="1800">
                          <a:effectLst/>
                          <a:latin typeface="Century Gothic" panose="020B0502020202020204" pitchFamily="34" charset="0"/>
                        </a:rPr>
                        <a:t>120GB Monthly Broadband Plan</a:t>
                      </a:r>
                    </a:p>
                  </a:txBody>
                  <a:tcPr marL="90653" marR="90653" marT="45326" marB="45326">
                    <a:lnL>
                      <a:noFill/>
                    </a:lnL>
                    <a:lnR>
                      <a:noFill/>
                    </a:lnR>
                    <a:lnT>
                      <a:noFill/>
                    </a:lnT>
                    <a:lnB>
                      <a:noFill/>
                    </a:lnB>
                    <a:noFill/>
                  </a:tcPr>
                </a:tc>
                <a:tc>
                  <a:txBody>
                    <a:bodyPr/>
                    <a:lstStyle/>
                    <a:p>
                      <a:pPr fontAlgn="t">
                        <a:buNone/>
                      </a:pPr>
                      <a:r>
                        <a:rPr lang="en-US" sz="1800">
                          <a:effectLst/>
                          <a:latin typeface="Century Gothic" panose="020B0502020202020204" pitchFamily="34" charset="0"/>
                        </a:rPr>
                        <a:t>665</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15,960,000</a:t>
                      </a:r>
                    </a:p>
                  </a:txBody>
                  <a:tcPr marL="90653" marR="90653" marT="45326" marB="45326">
                    <a:lnL>
                      <a:noFill/>
                    </a:lnL>
                    <a:lnR>
                      <a:noFill/>
                    </a:lnR>
                    <a:lnT>
                      <a:noFill/>
                    </a:lnT>
                    <a:lnB>
                      <a:noFill/>
                    </a:lnB>
                    <a:noFill/>
                  </a:tcPr>
                </a:tc>
                <a:extLst>
                  <a:ext uri="{0D108BD9-81ED-4DB2-BD59-A6C34878D82A}">
                    <a16:rowId xmlns:a16="http://schemas.microsoft.com/office/drawing/2014/main" val="787453028"/>
                  </a:ext>
                </a:extLst>
              </a:tr>
              <a:tr h="368843">
                <a:tc>
                  <a:txBody>
                    <a:bodyPr/>
                    <a:lstStyle/>
                    <a:p>
                      <a:pPr fontAlgn="t">
                        <a:buNone/>
                      </a:pPr>
                      <a:r>
                        <a:rPr lang="en-US" sz="1800">
                          <a:effectLst/>
                          <a:latin typeface="Century Gothic" panose="020B0502020202020204" pitchFamily="34" charset="0"/>
                        </a:rPr>
                        <a:t>10GB+10mins Monthly Plan</a:t>
                      </a:r>
                    </a:p>
                  </a:txBody>
                  <a:tcPr marL="90653" marR="90653" marT="45326" marB="45326">
                    <a:lnL>
                      <a:noFill/>
                    </a:lnL>
                    <a:lnR>
                      <a:noFill/>
                    </a:lnR>
                    <a:lnT>
                      <a:noFill/>
                    </a:lnT>
                    <a:lnB>
                      <a:noFill/>
                    </a:lnB>
                    <a:noFill/>
                  </a:tcPr>
                </a:tc>
                <a:tc>
                  <a:txBody>
                    <a:bodyPr/>
                    <a:lstStyle/>
                    <a:p>
                      <a:pPr fontAlgn="t">
                        <a:buNone/>
                      </a:pPr>
                      <a:r>
                        <a:rPr lang="en-US" sz="1800">
                          <a:effectLst/>
                          <a:latin typeface="Century Gothic" panose="020B0502020202020204" pitchFamily="34" charset="0"/>
                        </a:rPr>
                        <a:t>622</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2,799,000</a:t>
                      </a:r>
                    </a:p>
                  </a:txBody>
                  <a:tcPr marL="90653" marR="90653" marT="45326" marB="45326">
                    <a:lnL>
                      <a:noFill/>
                    </a:lnL>
                    <a:lnR>
                      <a:noFill/>
                    </a:lnR>
                    <a:lnT>
                      <a:noFill/>
                    </a:lnT>
                    <a:lnB>
                      <a:noFill/>
                    </a:lnB>
                    <a:noFill/>
                  </a:tcPr>
                </a:tc>
                <a:extLst>
                  <a:ext uri="{0D108BD9-81ED-4DB2-BD59-A6C34878D82A}">
                    <a16:rowId xmlns:a16="http://schemas.microsoft.com/office/drawing/2014/main" val="2707016153"/>
                  </a:ext>
                </a:extLst>
              </a:tr>
              <a:tr h="368843">
                <a:tc>
                  <a:txBody>
                    <a:bodyPr/>
                    <a:lstStyle/>
                    <a:p>
                      <a:pPr fontAlgn="t">
                        <a:buNone/>
                      </a:pPr>
                      <a:r>
                        <a:rPr lang="en-US" sz="1800">
                          <a:effectLst/>
                          <a:latin typeface="Century Gothic" panose="020B0502020202020204" pitchFamily="34" charset="0"/>
                        </a:rPr>
                        <a:t>65GB Monthly Plan</a:t>
                      </a:r>
                    </a:p>
                  </a:txBody>
                  <a:tcPr marL="90653" marR="90653" marT="45326" marB="45326">
                    <a:lnL>
                      <a:noFill/>
                    </a:lnL>
                    <a:lnR>
                      <a:noFill/>
                    </a:lnR>
                    <a:lnT>
                      <a:noFill/>
                    </a:lnT>
                    <a:lnB>
                      <a:noFill/>
                    </a:lnB>
                    <a:noFill/>
                  </a:tcPr>
                </a:tc>
                <a:tc>
                  <a:txBody>
                    <a:bodyPr/>
                    <a:lstStyle/>
                    <a:p>
                      <a:pPr fontAlgn="t">
                        <a:buNone/>
                      </a:pPr>
                      <a:r>
                        <a:rPr lang="en-US" sz="1800">
                          <a:effectLst/>
                          <a:latin typeface="Century Gothic" panose="020B0502020202020204" pitchFamily="34" charset="0"/>
                        </a:rPr>
                        <a:t>582</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9,312,000</a:t>
                      </a:r>
                    </a:p>
                  </a:txBody>
                  <a:tcPr marL="90653" marR="90653" marT="45326" marB="45326">
                    <a:lnL>
                      <a:noFill/>
                    </a:lnL>
                    <a:lnR>
                      <a:noFill/>
                    </a:lnR>
                    <a:lnT>
                      <a:noFill/>
                    </a:lnT>
                    <a:lnB>
                      <a:noFill/>
                    </a:lnB>
                    <a:noFill/>
                  </a:tcPr>
                </a:tc>
                <a:extLst>
                  <a:ext uri="{0D108BD9-81ED-4DB2-BD59-A6C34878D82A}">
                    <a16:rowId xmlns:a16="http://schemas.microsoft.com/office/drawing/2014/main" val="1615681743"/>
                  </a:ext>
                </a:extLst>
              </a:tr>
              <a:tr h="368843">
                <a:tc>
                  <a:txBody>
                    <a:bodyPr/>
                    <a:lstStyle/>
                    <a:p>
                      <a:pPr fontAlgn="t">
                        <a:buNone/>
                      </a:pPr>
                      <a:r>
                        <a:rPr lang="en-US" sz="1800">
                          <a:effectLst/>
                          <a:latin typeface="Century Gothic" panose="020B0502020202020204" pitchFamily="34" charset="0"/>
                        </a:rPr>
                        <a:t>25GB Monthly Plan</a:t>
                      </a:r>
                    </a:p>
                  </a:txBody>
                  <a:tcPr marL="90653" marR="90653" marT="45326" marB="45326">
                    <a:lnL>
                      <a:noFill/>
                    </a:lnL>
                    <a:lnR>
                      <a:noFill/>
                    </a:lnR>
                    <a:lnT>
                      <a:noFill/>
                    </a:lnT>
                    <a:lnB>
                      <a:noFill/>
                    </a:lnB>
                    <a:noFill/>
                  </a:tcPr>
                </a:tc>
                <a:tc>
                  <a:txBody>
                    <a:bodyPr/>
                    <a:lstStyle/>
                    <a:p>
                      <a:pPr fontAlgn="t">
                        <a:buNone/>
                      </a:pPr>
                      <a:r>
                        <a:rPr lang="en-US" sz="1800">
                          <a:effectLst/>
                          <a:latin typeface="Century Gothic" panose="020B0502020202020204" pitchFamily="34" charset="0"/>
                        </a:rPr>
                        <a:t>480</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4,320,000</a:t>
                      </a:r>
                    </a:p>
                  </a:txBody>
                  <a:tcPr marL="90653" marR="90653" marT="45326" marB="45326">
                    <a:lnL>
                      <a:noFill/>
                    </a:lnL>
                    <a:lnR>
                      <a:noFill/>
                    </a:lnR>
                    <a:lnT>
                      <a:noFill/>
                    </a:lnT>
                    <a:lnB>
                      <a:noFill/>
                    </a:lnB>
                    <a:noFill/>
                  </a:tcPr>
                </a:tc>
                <a:extLst>
                  <a:ext uri="{0D108BD9-81ED-4DB2-BD59-A6C34878D82A}">
                    <a16:rowId xmlns:a16="http://schemas.microsoft.com/office/drawing/2014/main" val="3963994159"/>
                  </a:ext>
                </a:extLst>
              </a:tr>
              <a:tr h="368843">
                <a:tc>
                  <a:txBody>
                    <a:bodyPr/>
                    <a:lstStyle/>
                    <a:p>
                      <a:pPr fontAlgn="t">
                        <a:buNone/>
                      </a:pPr>
                      <a:r>
                        <a:rPr lang="en-US" sz="1800">
                          <a:effectLst/>
                          <a:latin typeface="Century Gothic" panose="020B0502020202020204" pitchFamily="34" charset="0"/>
                        </a:rPr>
                        <a:t>12.5GB Monthly Plan</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406</a:t>
                      </a:r>
                    </a:p>
                  </a:txBody>
                  <a:tcPr marL="90653" marR="90653" marT="45326" marB="45326">
                    <a:lnL>
                      <a:noFill/>
                    </a:lnL>
                    <a:lnR>
                      <a:noFill/>
                    </a:lnR>
                    <a:lnT>
                      <a:noFill/>
                    </a:lnT>
                    <a:lnB>
                      <a:noFill/>
                    </a:lnB>
                    <a:noFill/>
                  </a:tcPr>
                </a:tc>
                <a:tc>
                  <a:txBody>
                    <a:bodyPr/>
                    <a:lstStyle/>
                    <a:p>
                      <a:pPr fontAlgn="t">
                        <a:buNone/>
                      </a:pPr>
                      <a:r>
                        <a:rPr lang="en-US" sz="1800" dirty="0">
                          <a:effectLst/>
                          <a:latin typeface="Century Gothic" panose="020B0502020202020204" pitchFamily="34" charset="0"/>
                        </a:rPr>
                        <a:t>2,233,000</a:t>
                      </a:r>
                    </a:p>
                  </a:txBody>
                  <a:tcPr marL="90653" marR="90653" marT="45326" marB="45326">
                    <a:lnL>
                      <a:noFill/>
                    </a:lnL>
                    <a:lnR>
                      <a:noFill/>
                    </a:lnR>
                    <a:lnT>
                      <a:noFill/>
                    </a:lnT>
                    <a:lnB>
                      <a:noFill/>
                    </a:lnB>
                    <a:noFill/>
                  </a:tcPr>
                </a:tc>
                <a:extLst>
                  <a:ext uri="{0D108BD9-81ED-4DB2-BD59-A6C34878D82A}">
                    <a16:rowId xmlns:a16="http://schemas.microsoft.com/office/drawing/2014/main" val="894337886"/>
                  </a:ext>
                </a:extLst>
              </a:tr>
            </a:tbl>
          </a:graphicData>
        </a:graphic>
      </p:graphicFrame>
      <p:sp>
        <p:nvSpPr>
          <p:cNvPr id="6" name="Rectangle 1">
            <a:extLst>
              <a:ext uri="{FF2B5EF4-FFF2-40B4-BE49-F238E27FC236}">
                <a16:creationId xmlns:a16="http://schemas.microsoft.com/office/drawing/2014/main" id="{C5AFE96D-2E83-FBB0-140B-14E5E0C07BDA}"/>
              </a:ext>
            </a:extLst>
          </p:cNvPr>
          <p:cNvSpPr>
            <a:spLocks noChangeArrowheads="1"/>
          </p:cNvSpPr>
          <p:nvPr/>
        </p:nvSpPr>
        <p:spPr bwMode="auto">
          <a:xfrm>
            <a:off x="884238" y="18113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25392"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378960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983264-E3FD-225B-B544-B9AD0AE29641}"/>
              </a:ext>
            </a:extLst>
          </p:cNvPr>
          <p:cNvSpPr>
            <a:spLocks noGrp="1"/>
          </p:cNvSpPr>
          <p:nvPr>
            <p:ph type="title"/>
          </p:nvPr>
        </p:nvSpPr>
        <p:spPr>
          <a:xfrm>
            <a:off x="838200" y="560717"/>
            <a:ext cx="5181600" cy="1129971"/>
          </a:xfrm>
        </p:spPr>
        <p:txBody>
          <a:bodyPr>
            <a:normAutofit/>
          </a:bodyPr>
          <a:lstStyle/>
          <a:p>
            <a:r>
              <a:rPr lang="en-US" sz="1800" b="1" dirty="0">
                <a:latin typeface="Century Gothic" panose="020B0502020202020204" pitchFamily="34" charset="0"/>
              </a:rPr>
              <a:t>MONTHLY DATA USAGE</a:t>
            </a:r>
            <a:br>
              <a:rPr lang="en-US" sz="1800" dirty="0"/>
            </a:br>
            <a:r>
              <a:rPr lang="en-US" sz="1800" dirty="0"/>
              <a:t>FEB-44,534</a:t>
            </a:r>
            <a:br>
              <a:rPr lang="en-US" sz="1800" dirty="0"/>
            </a:br>
            <a:r>
              <a:rPr lang="en-US" sz="1800" dirty="0"/>
              <a:t>JAN-22,160</a:t>
            </a:r>
            <a:br>
              <a:rPr lang="en-US" sz="1800" dirty="0"/>
            </a:br>
            <a:r>
              <a:rPr lang="en-US" sz="1800" dirty="0"/>
              <a:t>MARCH-26,027</a:t>
            </a:r>
          </a:p>
        </p:txBody>
      </p:sp>
      <p:pic>
        <p:nvPicPr>
          <p:cNvPr id="2050" name="Picture 2">
            <a:extLst>
              <a:ext uri="{FF2B5EF4-FFF2-40B4-BE49-F238E27FC236}">
                <a16:creationId xmlns:a16="http://schemas.microsoft.com/office/drawing/2014/main" id="{B7F89122-F133-5B96-EB7E-FD5110140E5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1751162"/>
            <a:ext cx="5257800" cy="47417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A727E85-15B7-9166-C20F-500F5E5B9FF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1889185"/>
            <a:ext cx="5181600" cy="460369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FFE93CCD-0751-9E30-1703-A4FE4B160E2A}"/>
              </a:ext>
            </a:extLst>
          </p:cNvPr>
          <p:cNvSpPr/>
          <p:nvPr/>
        </p:nvSpPr>
        <p:spPr>
          <a:xfrm>
            <a:off x="7033404" y="663191"/>
            <a:ext cx="3459192" cy="750497"/>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dirty="0">
                <a:solidFill>
                  <a:schemeClr val="tx1"/>
                </a:solidFill>
              </a:rPr>
              <a:t>MONTHLY REVENUE</a:t>
            </a:r>
          </a:p>
          <a:p>
            <a:pPr algn="ctr"/>
            <a:r>
              <a:rPr lang="en-US" sz="1200" dirty="0">
                <a:solidFill>
                  <a:schemeClr val="tx1"/>
                </a:solidFill>
              </a:rPr>
              <a:t>FEB-87,173,550</a:t>
            </a:r>
          </a:p>
          <a:p>
            <a:pPr algn="ctr"/>
            <a:r>
              <a:rPr lang="en-US" sz="1200" dirty="0">
                <a:solidFill>
                  <a:schemeClr val="tx1"/>
                </a:solidFill>
              </a:rPr>
              <a:t>JAN-63,366,500 </a:t>
            </a:r>
          </a:p>
          <a:p>
            <a:pPr algn="ctr"/>
            <a:r>
              <a:rPr lang="en-US" sz="1200" dirty="0">
                <a:solidFill>
                  <a:schemeClr val="tx1"/>
                </a:solidFill>
              </a:rPr>
              <a:t>MAR-48,808,150</a:t>
            </a:r>
          </a:p>
        </p:txBody>
      </p:sp>
    </p:spTree>
    <p:extLst>
      <p:ext uri="{BB962C8B-B14F-4D97-AF65-F5344CB8AC3E}">
        <p14:creationId xmlns:p14="http://schemas.microsoft.com/office/powerpoint/2010/main" val="1002572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FA5F0B5-2907-6FDA-D767-189A138F29C2}"/>
              </a:ext>
            </a:extLst>
          </p:cNvPr>
          <p:cNvSpPr>
            <a:spLocks noGrp="1"/>
          </p:cNvSpPr>
          <p:nvPr>
            <p:ph type="title"/>
          </p:nvPr>
        </p:nvSpPr>
        <p:spPr>
          <a:xfrm>
            <a:off x="838200" y="247651"/>
            <a:ext cx="10515600" cy="952500"/>
          </a:xfrm>
        </p:spPr>
        <p:txBody>
          <a:bodyPr>
            <a:noAutofit/>
          </a:bodyPr>
          <a:lstStyle/>
          <a:p>
            <a:pPr algn="ctr"/>
            <a:r>
              <a:rPr lang="en-US" b="1" dirty="0">
                <a:latin typeface="Century Gothic" panose="020B0502020202020204" pitchFamily="34" charset="0"/>
              </a:rPr>
              <a:t>Top 10 Customers by Total Revenue (with Satisfaction rate &amp; Churn Status)</a:t>
            </a:r>
          </a:p>
        </p:txBody>
      </p:sp>
      <p:pic>
        <p:nvPicPr>
          <p:cNvPr id="13" name="Content Placeholder 12">
            <a:extLst>
              <a:ext uri="{FF2B5EF4-FFF2-40B4-BE49-F238E27FC236}">
                <a16:creationId xmlns:a16="http://schemas.microsoft.com/office/drawing/2014/main" id="{696CC47D-E198-F972-C0ED-487859B28285}"/>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619125" y="1438275"/>
            <a:ext cx="11069638" cy="5238750"/>
          </a:xfrm>
        </p:spPr>
      </p:pic>
      <p:sp>
        <p:nvSpPr>
          <p:cNvPr id="2" name="Rectangle 1">
            <a:extLst>
              <a:ext uri="{FF2B5EF4-FFF2-40B4-BE49-F238E27FC236}">
                <a16:creationId xmlns:a16="http://schemas.microsoft.com/office/drawing/2014/main" id="{FE5EB520-EDD6-5291-25B7-A43480B9745B}"/>
              </a:ext>
            </a:extLst>
          </p:cNvPr>
          <p:cNvSpPr/>
          <p:nvPr/>
        </p:nvSpPr>
        <p:spPr>
          <a:xfrm>
            <a:off x="1319784" y="5251704"/>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3.34M</a:t>
            </a:r>
          </a:p>
        </p:txBody>
      </p:sp>
      <p:sp>
        <p:nvSpPr>
          <p:cNvPr id="3" name="Rectangle 2">
            <a:extLst>
              <a:ext uri="{FF2B5EF4-FFF2-40B4-BE49-F238E27FC236}">
                <a16:creationId xmlns:a16="http://schemas.microsoft.com/office/drawing/2014/main" id="{4A9C8BEB-64C9-9D9C-D861-599322172D81}"/>
              </a:ext>
            </a:extLst>
          </p:cNvPr>
          <p:cNvSpPr/>
          <p:nvPr/>
        </p:nvSpPr>
        <p:spPr>
          <a:xfrm>
            <a:off x="2353056" y="5251704"/>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3.30M</a:t>
            </a:r>
          </a:p>
        </p:txBody>
      </p:sp>
      <p:sp>
        <p:nvSpPr>
          <p:cNvPr id="4" name="Rectangle 3">
            <a:extLst>
              <a:ext uri="{FF2B5EF4-FFF2-40B4-BE49-F238E27FC236}">
                <a16:creationId xmlns:a16="http://schemas.microsoft.com/office/drawing/2014/main" id="{2BBCE80E-87FE-DCF6-B331-C03C9A3D2862}"/>
              </a:ext>
            </a:extLst>
          </p:cNvPr>
          <p:cNvSpPr/>
          <p:nvPr/>
        </p:nvSpPr>
        <p:spPr>
          <a:xfrm>
            <a:off x="3395472" y="5230368"/>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3.10M</a:t>
            </a:r>
          </a:p>
        </p:txBody>
      </p:sp>
      <p:sp>
        <p:nvSpPr>
          <p:cNvPr id="5" name="Rectangle 4">
            <a:extLst>
              <a:ext uri="{FF2B5EF4-FFF2-40B4-BE49-F238E27FC236}">
                <a16:creationId xmlns:a16="http://schemas.microsoft.com/office/drawing/2014/main" id="{847FFD46-4CA0-1DFE-E466-D62770485D80}"/>
              </a:ext>
            </a:extLst>
          </p:cNvPr>
          <p:cNvSpPr/>
          <p:nvPr/>
        </p:nvSpPr>
        <p:spPr>
          <a:xfrm>
            <a:off x="4437888" y="5230368"/>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2.87M</a:t>
            </a:r>
          </a:p>
        </p:txBody>
      </p:sp>
      <p:sp>
        <p:nvSpPr>
          <p:cNvPr id="6" name="Rectangle 5">
            <a:extLst>
              <a:ext uri="{FF2B5EF4-FFF2-40B4-BE49-F238E27FC236}">
                <a16:creationId xmlns:a16="http://schemas.microsoft.com/office/drawing/2014/main" id="{DD8F0796-5CC0-9BD5-7CE9-44B16B7A23D2}"/>
              </a:ext>
            </a:extLst>
          </p:cNvPr>
          <p:cNvSpPr/>
          <p:nvPr/>
        </p:nvSpPr>
        <p:spPr>
          <a:xfrm>
            <a:off x="5508879" y="5230368"/>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2.60M</a:t>
            </a:r>
          </a:p>
        </p:txBody>
      </p:sp>
      <p:sp>
        <p:nvSpPr>
          <p:cNvPr id="7" name="Rectangle 6">
            <a:extLst>
              <a:ext uri="{FF2B5EF4-FFF2-40B4-BE49-F238E27FC236}">
                <a16:creationId xmlns:a16="http://schemas.microsoft.com/office/drawing/2014/main" id="{C8C31882-6C0F-B8C8-8C79-54DF912E5AA0}"/>
              </a:ext>
            </a:extLst>
          </p:cNvPr>
          <p:cNvSpPr/>
          <p:nvPr/>
        </p:nvSpPr>
        <p:spPr>
          <a:xfrm>
            <a:off x="6551295" y="5251704"/>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2.40M</a:t>
            </a:r>
          </a:p>
        </p:txBody>
      </p:sp>
      <p:sp>
        <p:nvSpPr>
          <p:cNvPr id="8" name="Rectangle 7">
            <a:extLst>
              <a:ext uri="{FF2B5EF4-FFF2-40B4-BE49-F238E27FC236}">
                <a16:creationId xmlns:a16="http://schemas.microsoft.com/office/drawing/2014/main" id="{993E5D82-AD32-484F-7260-79B39CDB1631}"/>
              </a:ext>
            </a:extLst>
          </p:cNvPr>
          <p:cNvSpPr/>
          <p:nvPr/>
        </p:nvSpPr>
        <p:spPr>
          <a:xfrm>
            <a:off x="7593711" y="5230368"/>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2.38M</a:t>
            </a:r>
          </a:p>
        </p:txBody>
      </p:sp>
      <p:sp>
        <p:nvSpPr>
          <p:cNvPr id="9" name="Rectangle 8">
            <a:extLst>
              <a:ext uri="{FF2B5EF4-FFF2-40B4-BE49-F238E27FC236}">
                <a16:creationId xmlns:a16="http://schemas.microsoft.com/office/drawing/2014/main" id="{AA8741DB-BAB4-5167-F2EB-6CBC0DB2AB55}"/>
              </a:ext>
            </a:extLst>
          </p:cNvPr>
          <p:cNvSpPr/>
          <p:nvPr/>
        </p:nvSpPr>
        <p:spPr>
          <a:xfrm>
            <a:off x="8624729" y="5251704"/>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2.23M</a:t>
            </a:r>
          </a:p>
        </p:txBody>
      </p:sp>
      <p:sp>
        <p:nvSpPr>
          <p:cNvPr id="10" name="Rectangle 9">
            <a:extLst>
              <a:ext uri="{FF2B5EF4-FFF2-40B4-BE49-F238E27FC236}">
                <a16:creationId xmlns:a16="http://schemas.microsoft.com/office/drawing/2014/main" id="{011D2E7A-5919-5E8E-FB9E-29B7F12C65C5}"/>
              </a:ext>
            </a:extLst>
          </p:cNvPr>
          <p:cNvSpPr/>
          <p:nvPr/>
        </p:nvSpPr>
        <p:spPr>
          <a:xfrm>
            <a:off x="9655747" y="5251704"/>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2.10M</a:t>
            </a:r>
          </a:p>
        </p:txBody>
      </p:sp>
      <p:sp>
        <p:nvSpPr>
          <p:cNvPr id="11" name="Rectangle 10">
            <a:extLst>
              <a:ext uri="{FF2B5EF4-FFF2-40B4-BE49-F238E27FC236}">
                <a16:creationId xmlns:a16="http://schemas.microsoft.com/office/drawing/2014/main" id="{21EE67DA-1633-FE3D-1DE6-C2D6AF99E3FB}"/>
              </a:ext>
            </a:extLst>
          </p:cNvPr>
          <p:cNvSpPr/>
          <p:nvPr/>
        </p:nvSpPr>
        <p:spPr>
          <a:xfrm>
            <a:off x="10706355" y="5251704"/>
            <a:ext cx="758952" cy="28346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a:t>2.03M</a:t>
            </a:r>
          </a:p>
        </p:txBody>
      </p:sp>
    </p:spTree>
    <p:extLst>
      <p:ext uri="{BB962C8B-B14F-4D97-AF65-F5344CB8AC3E}">
        <p14:creationId xmlns:p14="http://schemas.microsoft.com/office/powerpoint/2010/main" val="4013803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6556B-F97F-BEB4-D527-2828F6580E9C}"/>
              </a:ext>
            </a:extLst>
          </p:cNvPr>
          <p:cNvSpPr>
            <a:spLocks noGrp="1"/>
          </p:cNvSpPr>
          <p:nvPr>
            <p:ph type="title"/>
          </p:nvPr>
        </p:nvSpPr>
        <p:spPr>
          <a:xfrm>
            <a:off x="838200" y="365125"/>
            <a:ext cx="5257800" cy="1325563"/>
          </a:xfrm>
        </p:spPr>
        <p:txBody>
          <a:bodyPr>
            <a:normAutofit/>
          </a:bodyPr>
          <a:lstStyle/>
          <a:p>
            <a:pPr algn="ctr"/>
            <a:r>
              <a:rPr lang="en-US" sz="3200" b="1" dirty="0">
                <a:latin typeface="Century Gothic" panose="020B0502020202020204" pitchFamily="34" charset="0"/>
              </a:rPr>
              <a:t>Distribution of Customer Satisfaction Rates</a:t>
            </a:r>
          </a:p>
        </p:txBody>
      </p:sp>
      <p:pic>
        <p:nvPicPr>
          <p:cNvPr id="7170" name="Picture 2">
            <a:extLst>
              <a:ext uri="{FF2B5EF4-FFF2-40B4-BE49-F238E27FC236}">
                <a16:creationId xmlns:a16="http://schemas.microsoft.com/office/drawing/2014/main" id="{CD5C7344-E658-7086-37E7-52107C0B983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240205" y="1825625"/>
            <a:ext cx="4377590" cy="435133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A734CE22-96D9-42D4-1AE2-D8135DA1F25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514588" y="1825625"/>
            <a:ext cx="4496823"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9E657C2-7A11-C423-4422-F0799C66D1A6}"/>
              </a:ext>
            </a:extLst>
          </p:cNvPr>
          <p:cNvSpPr txBox="1"/>
          <p:nvPr/>
        </p:nvSpPr>
        <p:spPr>
          <a:xfrm>
            <a:off x="6782637" y="533566"/>
            <a:ext cx="5045180" cy="584775"/>
          </a:xfrm>
          <a:prstGeom prst="rect">
            <a:avLst/>
          </a:prstGeom>
          <a:noFill/>
        </p:spPr>
        <p:txBody>
          <a:bodyPr wrap="square" rtlCol="0">
            <a:spAutoFit/>
          </a:bodyPr>
          <a:lstStyle/>
          <a:p>
            <a:pPr algn="ctr"/>
            <a:r>
              <a:rPr lang="en-US" sz="3200" b="1" dirty="0">
                <a:latin typeface="Century Gothic" panose="020B0502020202020204" pitchFamily="34" charset="0"/>
              </a:rPr>
              <a:t>Customer Value</a:t>
            </a:r>
          </a:p>
        </p:txBody>
      </p:sp>
    </p:spTree>
    <p:extLst>
      <p:ext uri="{BB962C8B-B14F-4D97-AF65-F5344CB8AC3E}">
        <p14:creationId xmlns:p14="http://schemas.microsoft.com/office/powerpoint/2010/main" val="275358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259BC1-B6E2-4725-568F-7A85554707FE}"/>
              </a:ext>
            </a:extLst>
          </p:cNvPr>
          <p:cNvSpPr>
            <a:spLocks noGrp="1"/>
          </p:cNvSpPr>
          <p:nvPr>
            <p:ph type="title"/>
          </p:nvPr>
        </p:nvSpPr>
        <p:spPr/>
        <p:txBody>
          <a:bodyPr>
            <a:normAutofit/>
          </a:bodyPr>
          <a:lstStyle/>
          <a:p>
            <a:r>
              <a:rPr lang="en-US" sz="4400" b="1" dirty="0">
                <a:latin typeface="Century Gothic" panose="020B0502020202020204" pitchFamily="34" charset="0"/>
              </a:rPr>
              <a:t>Reasons for Customer Churn</a:t>
            </a:r>
          </a:p>
        </p:txBody>
      </p:sp>
      <p:sp>
        <p:nvSpPr>
          <p:cNvPr id="2" name="Content Placeholder 1">
            <a:extLst>
              <a:ext uri="{FF2B5EF4-FFF2-40B4-BE49-F238E27FC236}">
                <a16:creationId xmlns:a16="http://schemas.microsoft.com/office/drawing/2014/main" id="{31C53D0A-05CC-5EE3-E515-28C5A0357B14}"/>
              </a:ext>
            </a:extLst>
          </p:cNvPr>
          <p:cNvSpPr>
            <a:spLocks noGrp="1"/>
          </p:cNvSpPr>
          <p:nvPr>
            <p:ph idx="1"/>
          </p:nvPr>
        </p:nvSpPr>
        <p:spPr/>
        <p:txBody>
          <a:bodyPr/>
          <a:lstStyle/>
          <a:p>
            <a:endParaRPr lang="en-US"/>
          </a:p>
        </p:txBody>
      </p:sp>
      <p:pic>
        <p:nvPicPr>
          <p:cNvPr id="8194" name="Picture 2">
            <a:extLst>
              <a:ext uri="{FF2B5EF4-FFF2-40B4-BE49-F238E27FC236}">
                <a16:creationId xmlns:a16="http://schemas.microsoft.com/office/drawing/2014/main" id="{E9F5C79A-C88B-4253-E9C2-E50403286FC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740"/>
          <a:stretch>
            <a:fillRect/>
          </a:stretch>
        </p:blipFill>
        <p:spPr bwMode="auto">
          <a:xfrm>
            <a:off x="668869" y="1230923"/>
            <a:ext cx="10854261" cy="5049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260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801C-5027-013C-5B24-FD287C01E546}"/>
              </a:ext>
            </a:extLst>
          </p:cNvPr>
          <p:cNvSpPr>
            <a:spLocks noGrp="1"/>
          </p:cNvSpPr>
          <p:nvPr>
            <p:ph type="title"/>
          </p:nvPr>
        </p:nvSpPr>
        <p:spPr>
          <a:xfrm>
            <a:off x="838200" y="365125"/>
            <a:ext cx="10515600" cy="1063047"/>
          </a:xfrm>
        </p:spPr>
        <p:txBody>
          <a:bodyPr>
            <a:normAutofit/>
          </a:bodyPr>
          <a:lstStyle/>
          <a:p>
            <a:r>
              <a:rPr lang="en-US" sz="3200" b="1" dirty="0">
                <a:latin typeface="Century Gothic" panose="020B0502020202020204" pitchFamily="34" charset="0"/>
              </a:rPr>
              <a:t>CUSTOMER CHURN STATUS BY DEVICE CATEGORY</a:t>
            </a:r>
          </a:p>
        </p:txBody>
      </p:sp>
      <p:pic>
        <p:nvPicPr>
          <p:cNvPr id="9220" name="Picture 4">
            <a:extLst>
              <a:ext uri="{FF2B5EF4-FFF2-40B4-BE49-F238E27FC236}">
                <a16:creationId xmlns:a16="http://schemas.microsoft.com/office/drawing/2014/main" id="{B658034B-06FC-D1FC-B548-5D55562222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7313" y="1825625"/>
            <a:ext cx="8471139"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313252C-BF74-478B-36DE-206A8B215312}"/>
              </a:ext>
            </a:extLst>
          </p:cNvPr>
          <p:cNvSpPr txBox="1"/>
          <p:nvPr/>
        </p:nvSpPr>
        <p:spPr>
          <a:xfrm>
            <a:off x="3513108" y="3546258"/>
            <a:ext cx="575813" cy="369332"/>
          </a:xfrm>
          <a:prstGeom prst="rect">
            <a:avLst/>
          </a:prstGeom>
          <a:noFill/>
        </p:spPr>
        <p:txBody>
          <a:bodyPr wrap="square">
            <a:spAutoFit/>
          </a:bodyPr>
          <a:lstStyle/>
          <a:p>
            <a:r>
              <a:rPr lang="en-US" dirty="0">
                <a:solidFill>
                  <a:srgbClr val="FF0000"/>
                </a:solidFill>
                <a:highlight>
                  <a:srgbClr val="FFFF00"/>
                </a:highlight>
              </a:rPr>
              <a:t>316</a:t>
            </a:r>
            <a:endParaRPr lang="en-US" dirty="0"/>
          </a:p>
        </p:txBody>
      </p:sp>
      <p:sp>
        <p:nvSpPr>
          <p:cNvPr id="8" name="TextBox 7">
            <a:extLst>
              <a:ext uri="{FF2B5EF4-FFF2-40B4-BE49-F238E27FC236}">
                <a16:creationId xmlns:a16="http://schemas.microsoft.com/office/drawing/2014/main" id="{ECB601B9-9CEC-8ACB-3045-FF91EFCA225D}"/>
              </a:ext>
            </a:extLst>
          </p:cNvPr>
          <p:cNvSpPr txBox="1"/>
          <p:nvPr/>
        </p:nvSpPr>
        <p:spPr>
          <a:xfrm>
            <a:off x="3588646" y="4570551"/>
            <a:ext cx="630936" cy="369332"/>
          </a:xfrm>
          <a:prstGeom prst="rect">
            <a:avLst/>
          </a:prstGeom>
          <a:noFill/>
        </p:spPr>
        <p:txBody>
          <a:bodyPr wrap="square" rtlCol="0">
            <a:spAutoFit/>
          </a:bodyPr>
          <a:lstStyle/>
          <a:p>
            <a:r>
              <a:rPr lang="en-US" dirty="0">
                <a:solidFill>
                  <a:srgbClr val="FF0000"/>
                </a:solidFill>
                <a:highlight>
                  <a:srgbClr val="FFFF00"/>
                </a:highlight>
              </a:rPr>
              <a:t>207</a:t>
            </a:r>
          </a:p>
        </p:txBody>
      </p:sp>
      <p:sp>
        <p:nvSpPr>
          <p:cNvPr id="11" name="TextBox 10">
            <a:extLst>
              <a:ext uri="{FF2B5EF4-FFF2-40B4-BE49-F238E27FC236}">
                <a16:creationId xmlns:a16="http://schemas.microsoft.com/office/drawing/2014/main" id="{61CB252D-4849-C11D-CE06-34C5519F4DBE}"/>
              </a:ext>
            </a:extLst>
          </p:cNvPr>
          <p:cNvSpPr txBox="1"/>
          <p:nvPr/>
        </p:nvSpPr>
        <p:spPr>
          <a:xfrm>
            <a:off x="3643769" y="5410178"/>
            <a:ext cx="575813" cy="369332"/>
          </a:xfrm>
          <a:prstGeom prst="rect">
            <a:avLst/>
          </a:prstGeom>
          <a:noFill/>
        </p:spPr>
        <p:txBody>
          <a:bodyPr wrap="square">
            <a:spAutoFit/>
          </a:bodyPr>
          <a:lstStyle/>
          <a:p>
            <a:r>
              <a:rPr lang="en-US" dirty="0">
                <a:solidFill>
                  <a:srgbClr val="FF0000"/>
                </a:solidFill>
                <a:highlight>
                  <a:srgbClr val="FFFF00"/>
                </a:highlight>
              </a:rPr>
              <a:t>167</a:t>
            </a:r>
            <a:endParaRPr lang="en-US" dirty="0"/>
          </a:p>
        </p:txBody>
      </p:sp>
      <p:sp>
        <p:nvSpPr>
          <p:cNvPr id="13" name="TextBox 12">
            <a:extLst>
              <a:ext uri="{FF2B5EF4-FFF2-40B4-BE49-F238E27FC236}">
                <a16:creationId xmlns:a16="http://schemas.microsoft.com/office/drawing/2014/main" id="{7F7A97CF-9F52-7E98-A335-FA3F7A73E928}"/>
              </a:ext>
            </a:extLst>
          </p:cNvPr>
          <p:cNvSpPr txBox="1"/>
          <p:nvPr/>
        </p:nvSpPr>
        <p:spPr>
          <a:xfrm>
            <a:off x="7398706" y="4650439"/>
            <a:ext cx="541365" cy="369332"/>
          </a:xfrm>
          <a:prstGeom prst="rect">
            <a:avLst/>
          </a:prstGeom>
          <a:noFill/>
        </p:spPr>
        <p:txBody>
          <a:bodyPr wrap="square">
            <a:spAutoFit/>
          </a:bodyPr>
          <a:lstStyle/>
          <a:p>
            <a:r>
              <a:rPr lang="en-US" dirty="0">
                <a:solidFill>
                  <a:srgbClr val="FF0000"/>
                </a:solidFill>
                <a:highlight>
                  <a:srgbClr val="FFFF00"/>
                </a:highlight>
              </a:rPr>
              <a:t>129</a:t>
            </a:r>
            <a:endParaRPr lang="en-US" dirty="0"/>
          </a:p>
        </p:txBody>
      </p:sp>
      <p:sp>
        <p:nvSpPr>
          <p:cNvPr id="15" name="TextBox 14">
            <a:extLst>
              <a:ext uri="{FF2B5EF4-FFF2-40B4-BE49-F238E27FC236}">
                <a16:creationId xmlns:a16="http://schemas.microsoft.com/office/drawing/2014/main" id="{1A46DF5A-C13F-BE17-CDA6-76F664E64CDD}"/>
              </a:ext>
            </a:extLst>
          </p:cNvPr>
          <p:cNvSpPr txBox="1"/>
          <p:nvPr/>
        </p:nvSpPr>
        <p:spPr>
          <a:xfrm>
            <a:off x="7474244" y="5154708"/>
            <a:ext cx="465827" cy="369332"/>
          </a:xfrm>
          <a:prstGeom prst="rect">
            <a:avLst/>
          </a:prstGeom>
          <a:noFill/>
        </p:spPr>
        <p:txBody>
          <a:bodyPr wrap="square">
            <a:spAutoFit/>
          </a:bodyPr>
          <a:lstStyle/>
          <a:p>
            <a:r>
              <a:rPr lang="en-US" dirty="0">
                <a:solidFill>
                  <a:srgbClr val="FF0000"/>
                </a:solidFill>
                <a:highlight>
                  <a:srgbClr val="FFFF00"/>
                </a:highlight>
              </a:rPr>
              <a:t>94</a:t>
            </a:r>
            <a:endParaRPr lang="en-US" dirty="0"/>
          </a:p>
        </p:txBody>
      </p:sp>
      <p:sp>
        <p:nvSpPr>
          <p:cNvPr id="17" name="TextBox 16">
            <a:extLst>
              <a:ext uri="{FF2B5EF4-FFF2-40B4-BE49-F238E27FC236}">
                <a16:creationId xmlns:a16="http://schemas.microsoft.com/office/drawing/2014/main" id="{5F56DC02-E318-8FF9-4D38-0C946B19DC2E}"/>
              </a:ext>
            </a:extLst>
          </p:cNvPr>
          <p:cNvSpPr txBox="1"/>
          <p:nvPr/>
        </p:nvSpPr>
        <p:spPr>
          <a:xfrm>
            <a:off x="7474244" y="5474311"/>
            <a:ext cx="465827" cy="369332"/>
          </a:xfrm>
          <a:prstGeom prst="rect">
            <a:avLst/>
          </a:prstGeom>
          <a:noFill/>
        </p:spPr>
        <p:txBody>
          <a:bodyPr wrap="square">
            <a:spAutoFit/>
          </a:bodyPr>
          <a:lstStyle/>
          <a:p>
            <a:r>
              <a:rPr lang="en-US" dirty="0">
                <a:solidFill>
                  <a:srgbClr val="FF0000"/>
                </a:solidFill>
                <a:highlight>
                  <a:srgbClr val="FFFF00"/>
                </a:highlight>
              </a:rPr>
              <a:t>61</a:t>
            </a:r>
            <a:endParaRPr lang="en-US" dirty="0"/>
          </a:p>
        </p:txBody>
      </p:sp>
    </p:spTree>
    <p:extLst>
      <p:ext uri="{BB962C8B-B14F-4D97-AF65-F5344CB8AC3E}">
        <p14:creationId xmlns:p14="http://schemas.microsoft.com/office/powerpoint/2010/main" val="1202302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48E05A-0BAE-4FB4-C0F9-94596A629037}"/>
              </a:ext>
            </a:extLst>
          </p:cNvPr>
          <p:cNvSpPr>
            <a:spLocks noGrp="1"/>
          </p:cNvSpPr>
          <p:nvPr>
            <p:ph type="title"/>
          </p:nvPr>
        </p:nvSpPr>
        <p:spPr>
          <a:xfrm>
            <a:off x="838200" y="365125"/>
            <a:ext cx="4547616" cy="1325563"/>
          </a:xfrm>
        </p:spPr>
        <p:txBody>
          <a:bodyPr>
            <a:normAutofit fontScale="90000"/>
          </a:bodyPr>
          <a:lstStyle/>
          <a:p>
            <a:pPr algn="ctr"/>
            <a:r>
              <a:rPr lang="en-US" sz="3200" b="1" dirty="0">
                <a:latin typeface="Century Gothic" panose="020B0502020202020204" pitchFamily="34" charset="0"/>
              </a:rPr>
              <a:t>CUSTOMER CHURN STATUS BY AGE GROUP</a:t>
            </a:r>
          </a:p>
        </p:txBody>
      </p:sp>
      <p:pic>
        <p:nvPicPr>
          <p:cNvPr id="9218" name="Picture 2">
            <a:extLst>
              <a:ext uri="{FF2B5EF4-FFF2-40B4-BE49-F238E27FC236}">
                <a16:creationId xmlns:a16="http://schemas.microsoft.com/office/drawing/2014/main" id="{B3C2964F-9591-F6EB-C65D-FCC29C1E0F8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3118" y="1887536"/>
            <a:ext cx="5160264" cy="4351338"/>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FFD068AA-B07E-6D44-C506-A1C081EEC9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87536"/>
            <a:ext cx="5471160"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2E1734C-2568-9BC4-3FDA-124CC0000590}"/>
              </a:ext>
            </a:extLst>
          </p:cNvPr>
          <p:cNvSpPr/>
          <p:nvPr/>
        </p:nvSpPr>
        <p:spPr>
          <a:xfrm>
            <a:off x="6665976" y="579850"/>
            <a:ext cx="4005072" cy="896112"/>
          </a:xfrm>
          <a:prstGeom prst="rect">
            <a:avLst/>
          </a:prstGeom>
          <a:solidFill>
            <a:srgbClr val="FFCC00"/>
          </a:solidFill>
        </p:spPr>
        <p:style>
          <a:lnRef idx="2">
            <a:schemeClr val="accent4"/>
          </a:lnRef>
          <a:fillRef idx="1">
            <a:schemeClr val="lt1"/>
          </a:fillRef>
          <a:effectRef idx="0">
            <a:schemeClr val="accent4"/>
          </a:effectRef>
          <a:fontRef idx="minor">
            <a:schemeClr val="dk1"/>
          </a:fontRef>
        </p:style>
        <p:txBody>
          <a:bodyPr rtlCol="0" anchor="ctr">
            <a:scene3d>
              <a:camera prst="orthographicFront"/>
              <a:lightRig rig="soft" dir="t">
                <a:rot lat="0" lon="0" rev="15600000"/>
              </a:lightRig>
            </a:scene3d>
            <a:sp3d extrusionH="57150" prstMaterial="softEdge">
              <a:bevelT w="25400" h="38100"/>
            </a:sp3d>
          </a:bodyPr>
          <a:lstStyle/>
          <a:p>
            <a:pPr algn="ctr"/>
            <a:r>
              <a:rPr lang="en-US" sz="2800" b="1" dirty="0">
                <a:ln w="0"/>
                <a:solidFill>
                  <a:schemeClr val="tx1"/>
                </a:solidFill>
                <a:effectLst>
                  <a:outerShdw blurRad="38100" dist="19050" dir="2700000" algn="tl" rotWithShape="0">
                    <a:schemeClr val="dk1">
                      <a:alpha val="40000"/>
                    </a:schemeClr>
                  </a:outerShdw>
                </a:effectLst>
                <a:latin typeface="Century Gothic" panose="020B0502020202020204" pitchFamily="34" charset="0"/>
              </a:rPr>
              <a:t>TOTAL REVENUE BY AGE GROUP</a:t>
            </a:r>
          </a:p>
        </p:txBody>
      </p:sp>
      <p:sp>
        <p:nvSpPr>
          <p:cNvPr id="10" name="Speech Bubble: Rectangle 9">
            <a:extLst>
              <a:ext uri="{FF2B5EF4-FFF2-40B4-BE49-F238E27FC236}">
                <a16:creationId xmlns:a16="http://schemas.microsoft.com/office/drawing/2014/main" id="{2E888A49-F0E4-544D-848F-BCA2E3AAF30B}"/>
              </a:ext>
            </a:extLst>
          </p:cNvPr>
          <p:cNvSpPr/>
          <p:nvPr/>
        </p:nvSpPr>
        <p:spPr>
          <a:xfrm>
            <a:off x="6601968" y="5472302"/>
            <a:ext cx="832104" cy="26098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58,811,200</a:t>
            </a:r>
          </a:p>
        </p:txBody>
      </p:sp>
      <p:sp>
        <p:nvSpPr>
          <p:cNvPr id="12" name="Speech Bubble: Rectangle 11">
            <a:extLst>
              <a:ext uri="{FF2B5EF4-FFF2-40B4-BE49-F238E27FC236}">
                <a16:creationId xmlns:a16="http://schemas.microsoft.com/office/drawing/2014/main" id="{3361C3E0-E6D1-99CC-97C0-4DFC7C357F2C}"/>
              </a:ext>
            </a:extLst>
          </p:cNvPr>
          <p:cNvSpPr/>
          <p:nvPr/>
        </p:nvSpPr>
        <p:spPr>
          <a:xfrm>
            <a:off x="10412730" y="5472302"/>
            <a:ext cx="934213" cy="308419"/>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19,769,500</a:t>
            </a:r>
          </a:p>
        </p:txBody>
      </p:sp>
      <p:sp>
        <p:nvSpPr>
          <p:cNvPr id="13" name="Speech Bubble: Rectangle 12">
            <a:extLst>
              <a:ext uri="{FF2B5EF4-FFF2-40B4-BE49-F238E27FC236}">
                <a16:creationId xmlns:a16="http://schemas.microsoft.com/office/drawing/2014/main" id="{90C0087C-0E48-E240-7478-2D6ABC5720AE}"/>
              </a:ext>
            </a:extLst>
          </p:cNvPr>
          <p:cNvSpPr/>
          <p:nvPr/>
        </p:nvSpPr>
        <p:spPr>
          <a:xfrm>
            <a:off x="9124569" y="5472302"/>
            <a:ext cx="934212" cy="26098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53,253,500</a:t>
            </a:r>
          </a:p>
        </p:txBody>
      </p:sp>
      <p:sp>
        <p:nvSpPr>
          <p:cNvPr id="14" name="Speech Bubble: Rectangle 13">
            <a:extLst>
              <a:ext uri="{FF2B5EF4-FFF2-40B4-BE49-F238E27FC236}">
                <a16:creationId xmlns:a16="http://schemas.microsoft.com/office/drawing/2014/main" id="{D73BDD4D-C91F-EF42-0A1F-6D3928831D99}"/>
              </a:ext>
            </a:extLst>
          </p:cNvPr>
          <p:cNvSpPr/>
          <p:nvPr/>
        </p:nvSpPr>
        <p:spPr>
          <a:xfrm>
            <a:off x="7836408" y="5503067"/>
            <a:ext cx="934212" cy="246888"/>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FF00"/>
                </a:solidFill>
              </a:rPr>
              <a:t>67,514,000</a:t>
            </a:r>
          </a:p>
        </p:txBody>
      </p:sp>
      <p:sp>
        <p:nvSpPr>
          <p:cNvPr id="18" name="Speech Bubble: Rectangle 17">
            <a:extLst>
              <a:ext uri="{FF2B5EF4-FFF2-40B4-BE49-F238E27FC236}">
                <a16:creationId xmlns:a16="http://schemas.microsoft.com/office/drawing/2014/main" id="{E8865764-060D-1B71-8535-8BB7F76FB399}"/>
              </a:ext>
            </a:extLst>
          </p:cNvPr>
          <p:cNvSpPr/>
          <p:nvPr/>
        </p:nvSpPr>
        <p:spPr>
          <a:xfrm>
            <a:off x="1280160" y="3634740"/>
            <a:ext cx="449580" cy="274320"/>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92</a:t>
            </a:r>
          </a:p>
        </p:txBody>
      </p:sp>
      <p:sp>
        <p:nvSpPr>
          <p:cNvPr id="19" name="Speech Bubble: Rectangle 18">
            <a:extLst>
              <a:ext uri="{FF2B5EF4-FFF2-40B4-BE49-F238E27FC236}">
                <a16:creationId xmlns:a16="http://schemas.microsoft.com/office/drawing/2014/main" id="{4ACEA84C-DA79-FD23-2807-0A347A87A07F}"/>
              </a:ext>
            </a:extLst>
          </p:cNvPr>
          <p:cNvSpPr/>
          <p:nvPr/>
        </p:nvSpPr>
        <p:spPr>
          <a:xfrm>
            <a:off x="2491740" y="3009900"/>
            <a:ext cx="449580" cy="274320"/>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87</a:t>
            </a:r>
          </a:p>
        </p:txBody>
      </p:sp>
      <p:sp>
        <p:nvSpPr>
          <p:cNvPr id="20" name="Speech Bubble: Rectangle 19">
            <a:extLst>
              <a:ext uri="{FF2B5EF4-FFF2-40B4-BE49-F238E27FC236}">
                <a16:creationId xmlns:a16="http://schemas.microsoft.com/office/drawing/2014/main" id="{0C3808A3-73DB-6163-335F-5C014D38B20E}"/>
              </a:ext>
            </a:extLst>
          </p:cNvPr>
          <p:cNvSpPr/>
          <p:nvPr/>
        </p:nvSpPr>
        <p:spPr>
          <a:xfrm>
            <a:off x="3611880" y="3154680"/>
            <a:ext cx="502920" cy="274320"/>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80</a:t>
            </a:r>
          </a:p>
        </p:txBody>
      </p:sp>
      <p:sp>
        <p:nvSpPr>
          <p:cNvPr id="21" name="Speech Bubble: Rectangle 20">
            <a:extLst>
              <a:ext uri="{FF2B5EF4-FFF2-40B4-BE49-F238E27FC236}">
                <a16:creationId xmlns:a16="http://schemas.microsoft.com/office/drawing/2014/main" id="{DD1B7436-B99B-5BC3-F75B-DEF9353BF715}"/>
              </a:ext>
            </a:extLst>
          </p:cNvPr>
          <p:cNvSpPr/>
          <p:nvPr/>
        </p:nvSpPr>
        <p:spPr>
          <a:xfrm>
            <a:off x="4892040" y="4953000"/>
            <a:ext cx="411480" cy="190500"/>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25</a:t>
            </a:r>
          </a:p>
        </p:txBody>
      </p:sp>
    </p:spTree>
    <p:extLst>
      <p:ext uri="{BB962C8B-B14F-4D97-AF65-F5344CB8AC3E}">
        <p14:creationId xmlns:p14="http://schemas.microsoft.com/office/powerpoint/2010/main" val="4194783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CF570-A517-463E-7457-31A7953EB9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E3F29A-73E5-F090-28C7-EE44A91D1E68}"/>
              </a:ext>
            </a:extLst>
          </p:cNvPr>
          <p:cNvSpPr>
            <a:spLocks noGrp="1"/>
          </p:cNvSpPr>
          <p:nvPr>
            <p:ph type="title"/>
          </p:nvPr>
        </p:nvSpPr>
        <p:spPr>
          <a:xfrm>
            <a:off x="611779" y="251785"/>
            <a:ext cx="4813663" cy="1325563"/>
          </a:xfrm>
        </p:spPr>
        <p:txBody>
          <a:bodyPr>
            <a:noAutofit/>
          </a:bodyPr>
          <a:lstStyle/>
          <a:p>
            <a:pPr algn="ctr"/>
            <a:r>
              <a:rPr lang="en-US" sz="3600" b="1" dirty="0">
                <a:latin typeface="Century Gothic" panose="020B0502020202020204" pitchFamily="34" charset="0"/>
              </a:rPr>
              <a:t>CONCLUSION</a:t>
            </a:r>
          </a:p>
        </p:txBody>
      </p:sp>
      <p:sp>
        <p:nvSpPr>
          <p:cNvPr id="7" name="TextBox 6">
            <a:extLst>
              <a:ext uri="{FF2B5EF4-FFF2-40B4-BE49-F238E27FC236}">
                <a16:creationId xmlns:a16="http://schemas.microsoft.com/office/drawing/2014/main" id="{8ABF562D-8C28-FEFA-6B9D-4D8BBA4BF150}"/>
              </a:ext>
            </a:extLst>
          </p:cNvPr>
          <p:cNvSpPr txBox="1"/>
          <p:nvPr/>
        </p:nvSpPr>
        <p:spPr>
          <a:xfrm>
            <a:off x="6398622" y="86322"/>
            <a:ext cx="5181600" cy="2123658"/>
          </a:xfrm>
          <a:prstGeom prst="rect">
            <a:avLst/>
          </a:prstGeom>
          <a:noFill/>
        </p:spPr>
        <p:txBody>
          <a:bodyPr wrap="square" rtlCol="0">
            <a:spAutoFit/>
          </a:bodyPr>
          <a:lstStyle/>
          <a:p>
            <a:endParaRPr lang="en-US" sz="3200" b="1" dirty="0">
              <a:latin typeface="Century Gothic" panose="020B0502020202020204" pitchFamily="34" charset="0"/>
              <a:ea typeface="+mj-ea"/>
              <a:cs typeface="+mj-cs"/>
            </a:endParaRPr>
          </a:p>
          <a:p>
            <a:pPr algn="ctr"/>
            <a:r>
              <a:rPr lang="en-US" sz="3600" b="1" dirty="0">
                <a:latin typeface="Century Gothic" panose="020B0502020202020204" pitchFamily="34" charset="0"/>
                <a:ea typeface="+mj-ea"/>
                <a:cs typeface="+mj-cs"/>
              </a:rPr>
              <a:t>RECOMMENDATIONS</a:t>
            </a:r>
            <a:r>
              <a:rPr lang="en-US" sz="3200" b="1" dirty="0">
                <a:latin typeface="Century Gothic" panose="020B0502020202020204" pitchFamily="34" charset="0"/>
                <a:ea typeface="+mj-ea"/>
                <a:cs typeface="+mj-cs"/>
              </a:rPr>
              <a:t>	</a:t>
            </a:r>
          </a:p>
          <a:p>
            <a:endParaRPr lang="en-US" sz="3200" b="1" dirty="0">
              <a:latin typeface="Century Gothic" panose="020B0502020202020204" pitchFamily="34" charset="0"/>
              <a:ea typeface="+mj-ea"/>
              <a:cs typeface="+mj-cs"/>
            </a:endParaRPr>
          </a:p>
        </p:txBody>
      </p:sp>
      <p:sp>
        <p:nvSpPr>
          <p:cNvPr id="2" name="Content Placeholder 1">
            <a:extLst>
              <a:ext uri="{FF2B5EF4-FFF2-40B4-BE49-F238E27FC236}">
                <a16:creationId xmlns:a16="http://schemas.microsoft.com/office/drawing/2014/main" id="{780808E3-954C-3004-E91C-9890CB5D5CE8}"/>
              </a:ext>
            </a:extLst>
          </p:cNvPr>
          <p:cNvSpPr>
            <a:spLocks noGrp="1"/>
          </p:cNvSpPr>
          <p:nvPr>
            <p:ph sz="half" idx="1"/>
          </p:nvPr>
        </p:nvSpPr>
        <p:spPr>
          <a:xfrm>
            <a:off x="611779" y="1526420"/>
            <a:ext cx="5181600" cy="4524315"/>
          </a:xfrm>
        </p:spPr>
        <p:txBody>
          <a:bodyPr>
            <a:normAutofit fontScale="62500" lnSpcReduction="20000"/>
          </a:bodyPr>
          <a:lstStyle/>
          <a:p>
            <a:pPr>
              <a:lnSpc>
                <a:spcPct val="120000"/>
              </a:lnSpc>
            </a:pPr>
            <a:r>
              <a:rPr lang="en-US" dirty="0">
                <a:latin typeface="Century Gothic" panose="020B0502020202020204" pitchFamily="34" charset="0"/>
              </a:rPr>
              <a:t>MTN made good progress, earning </a:t>
            </a:r>
            <a:r>
              <a:rPr lang="en-US" b="1" dirty="0">
                <a:latin typeface="Century Gothic" panose="020B0502020202020204" pitchFamily="34" charset="0"/>
              </a:rPr>
              <a:t>₦199.3 million</a:t>
            </a:r>
            <a:r>
              <a:rPr lang="en-US" dirty="0">
                <a:latin typeface="Century Gothic" panose="020B0502020202020204" pitchFamily="34" charset="0"/>
              </a:rPr>
              <a:t> from </a:t>
            </a:r>
            <a:r>
              <a:rPr lang="en-US" b="1" dirty="0">
                <a:latin typeface="Century Gothic" panose="020B0502020202020204" pitchFamily="34" charset="0"/>
              </a:rPr>
              <a:t>496 customers</a:t>
            </a:r>
            <a:r>
              <a:rPr lang="en-US" dirty="0">
                <a:latin typeface="Century Gothic" panose="020B0502020202020204" pitchFamily="34" charset="0"/>
              </a:rPr>
              <a:t>.</a:t>
            </a:r>
          </a:p>
          <a:p>
            <a:pPr>
              <a:lnSpc>
                <a:spcPct val="120000"/>
              </a:lnSpc>
            </a:pPr>
            <a:r>
              <a:rPr lang="en-US" dirty="0">
                <a:latin typeface="Century Gothic" panose="020B0502020202020204" pitchFamily="34" charset="0"/>
              </a:rPr>
              <a:t>Most customers (</a:t>
            </a:r>
            <a:r>
              <a:rPr lang="en-US" b="1" dirty="0">
                <a:latin typeface="Century Gothic" panose="020B0502020202020204" pitchFamily="34" charset="0"/>
              </a:rPr>
              <a:t>71%</a:t>
            </a:r>
            <a:r>
              <a:rPr lang="en-US" dirty="0">
                <a:latin typeface="Century Gothic" panose="020B0502020202020204" pitchFamily="34" charset="0"/>
              </a:rPr>
              <a:t>) are still active, but </a:t>
            </a:r>
            <a:r>
              <a:rPr lang="en-US" b="1" dirty="0">
                <a:latin typeface="Century Gothic" panose="020B0502020202020204" pitchFamily="34" charset="0"/>
              </a:rPr>
              <a:t>29%</a:t>
            </a:r>
            <a:r>
              <a:rPr lang="en-US" dirty="0">
                <a:latin typeface="Century Gothic" panose="020B0502020202020204" pitchFamily="34" charset="0"/>
              </a:rPr>
              <a:t> have stopped using the service.</a:t>
            </a:r>
          </a:p>
          <a:p>
            <a:pPr>
              <a:lnSpc>
                <a:spcPct val="120000"/>
              </a:lnSpc>
            </a:pPr>
            <a:r>
              <a:rPr lang="en-US" b="1" dirty="0">
                <a:latin typeface="Century Gothic" panose="020B0502020202020204" pitchFamily="34" charset="0"/>
              </a:rPr>
              <a:t>Monthly plans</a:t>
            </a:r>
            <a:r>
              <a:rPr lang="en-US" dirty="0">
                <a:latin typeface="Century Gothic" panose="020B0502020202020204" pitchFamily="34" charset="0"/>
              </a:rPr>
              <a:t> and </a:t>
            </a:r>
            <a:r>
              <a:rPr lang="en-US" b="1" dirty="0">
                <a:latin typeface="Century Gothic" panose="020B0502020202020204" pitchFamily="34" charset="0"/>
              </a:rPr>
              <a:t>Router/MiFi users</a:t>
            </a:r>
            <a:r>
              <a:rPr lang="en-US" dirty="0">
                <a:latin typeface="Century Gothic" panose="020B0502020202020204" pitchFamily="34" charset="0"/>
              </a:rPr>
              <a:t> bring in the most money and use the most data.</a:t>
            </a:r>
          </a:p>
          <a:p>
            <a:pPr>
              <a:lnSpc>
                <a:spcPct val="120000"/>
              </a:lnSpc>
            </a:pPr>
            <a:r>
              <a:rPr lang="en-US" b="1" dirty="0">
                <a:latin typeface="Century Gothic" panose="020B0502020202020204" pitchFamily="34" charset="0"/>
              </a:rPr>
              <a:t>Young and middle-aged customers</a:t>
            </a:r>
            <a:r>
              <a:rPr lang="en-US" dirty="0">
                <a:latin typeface="Century Gothic" panose="020B0502020202020204" pitchFamily="34" charset="0"/>
              </a:rPr>
              <a:t> use MTN services more and spend more than older customers.</a:t>
            </a:r>
          </a:p>
          <a:p>
            <a:pPr>
              <a:lnSpc>
                <a:spcPct val="120000"/>
              </a:lnSpc>
            </a:pPr>
            <a:r>
              <a:rPr lang="en-US" dirty="0">
                <a:latin typeface="Century Gothic" panose="020B0502020202020204" pitchFamily="34" charset="0"/>
              </a:rPr>
              <a:t>Some customers are unhappy about </a:t>
            </a:r>
            <a:r>
              <a:rPr lang="en-US" b="1" dirty="0">
                <a:latin typeface="Century Gothic" panose="020B0502020202020204" pitchFamily="34" charset="0"/>
              </a:rPr>
              <a:t>network issues, high prices,</a:t>
            </a:r>
            <a:r>
              <a:rPr lang="en-US" dirty="0">
                <a:latin typeface="Century Gothic" panose="020B0502020202020204" pitchFamily="34" charset="0"/>
              </a:rPr>
              <a:t> and </a:t>
            </a:r>
            <a:r>
              <a:rPr lang="en-US" b="1" dirty="0">
                <a:latin typeface="Century Gothic" panose="020B0502020202020204" pitchFamily="34" charset="0"/>
              </a:rPr>
              <a:t>slow customer service</a:t>
            </a:r>
            <a:r>
              <a:rPr lang="en-US" dirty="0">
                <a:latin typeface="Century Gothic" panose="020B0502020202020204" pitchFamily="34" charset="0"/>
              </a:rPr>
              <a:t>, which leads to churn.</a:t>
            </a:r>
          </a:p>
          <a:p>
            <a:endParaRPr lang="en-US" dirty="0"/>
          </a:p>
        </p:txBody>
      </p:sp>
      <p:sp>
        <p:nvSpPr>
          <p:cNvPr id="6" name="Rectangle 1">
            <a:extLst>
              <a:ext uri="{FF2B5EF4-FFF2-40B4-BE49-F238E27FC236}">
                <a16:creationId xmlns:a16="http://schemas.microsoft.com/office/drawing/2014/main" id="{AF38322A-06DD-0CBF-EC2A-2A151B5EE405}"/>
              </a:ext>
            </a:extLst>
          </p:cNvPr>
          <p:cNvSpPr>
            <a:spLocks noGrp="1" noChangeArrowheads="1"/>
          </p:cNvSpPr>
          <p:nvPr>
            <p:ph sz="half" idx="2"/>
          </p:nvPr>
        </p:nvSpPr>
        <p:spPr bwMode="auto">
          <a:xfrm>
            <a:off x="6398622" y="1144353"/>
            <a:ext cx="540802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pPr>
            <a:r>
              <a:rPr lang="en-US" altLang="en-US" sz="1800" b="1" dirty="0">
                <a:latin typeface="Century Gothic" panose="020B0502020202020204" pitchFamily="34" charset="0"/>
              </a:rPr>
              <a:t>Keep more customers</a:t>
            </a:r>
            <a:r>
              <a:rPr lang="en-US" altLang="en-US" sz="1800" dirty="0">
                <a:latin typeface="Century Gothic" panose="020B0502020202020204" pitchFamily="34" charset="0"/>
              </a:rPr>
              <a:t> by giving rewards, discounts, and special offers to loyal users.</a:t>
            </a:r>
          </a:p>
          <a:p>
            <a:pPr lvl="0" eaLnBrk="0" fontAlgn="base" hangingPunct="0">
              <a:lnSpc>
                <a:spcPct val="100000"/>
              </a:lnSpc>
              <a:spcBef>
                <a:spcPct val="0"/>
              </a:spcBef>
              <a:spcAft>
                <a:spcPct val="0"/>
              </a:spcAft>
            </a:pPr>
            <a:endParaRPr lang="en-US" altLang="en-US" sz="1800" dirty="0">
              <a:latin typeface="Century Gothic" panose="020B0502020202020204" pitchFamily="34" charset="0"/>
            </a:endParaRPr>
          </a:p>
          <a:p>
            <a:pPr lvl="0" eaLnBrk="0" fontAlgn="base" hangingPunct="0">
              <a:lnSpc>
                <a:spcPct val="100000"/>
              </a:lnSpc>
              <a:spcBef>
                <a:spcPct val="0"/>
              </a:spcBef>
              <a:spcAft>
                <a:spcPct val="0"/>
              </a:spcAft>
            </a:pPr>
            <a:r>
              <a:rPr lang="en-US" altLang="en-US" sz="1800" b="1" dirty="0">
                <a:latin typeface="Century Gothic" panose="020B0502020202020204" pitchFamily="34" charset="0"/>
              </a:rPr>
              <a:t>Review prices</a:t>
            </a:r>
            <a:r>
              <a:rPr lang="en-US" altLang="en-US" sz="1800" dirty="0">
                <a:latin typeface="Century Gothic" panose="020B0502020202020204" pitchFamily="34" charset="0"/>
              </a:rPr>
              <a:t> and create flexible plans that meet the needs of young and active users.</a:t>
            </a:r>
          </a:p>
          <a:p>
            <a:pPr marL="0" lvl="0" indent="0" eaLnBrk="0" fontAlgn="base" hangingPunct="0">
              <a:lnSpc>
                <a:spcPct val="100000"/>
              </a:lnSpc>
              <a:spcBef>
                <a:spcPct val="0"/>
              </a:spcBef>
              <a:spcAft>
                <a:spcPct val="0"/>
              </a:spcAft>
              <a:buNone/>
            </a:pPr>
            <a:endParaRPr lang="en-US" altLang="en-US" sz="1800" dirty="0">
              <a:latin typeface="Century Gothic" panose="020B0502020202020204" pitchFamily="34" charset="0"/>
            </a:endParaRPr>
          </a:p>
          <a:p>
            <a:pPr lvl="0" eaLnBrk="0" fontAlgn="base" hangingPunct="0">
              <a:lnSpc>
                <a:spcPct val="100000"/>
              </a:lnSpc>
              <a:spcBef>
                <a:spcPct val="0"/>
              </a:spcBef>
              <a:spcAft>
                <a:spcPct val="0"/>
              </a:spcAft>
            </a:pPr>
            <a:r>
              <a:rPr lang="en-US" altLang="en-US" sz="1800" b="1" dirty="0">
                <a:latin typeface="Century Gothic" panose="020B0502020202020204" pitchFamily="34" charset="0"/>
              </a:rPr>
              <a:t>Improve network quality</a:t>
            </a:r>
            <a:r>
              <a:rPr lang="en-US" altLang="en-US" sz="1800" dirty="0">
                <a:latin typeface="Century Gothic" panose="020B0502020202020204" pitchFamily="34" charset="0"/>
              </a:rPr>
              <a:t> and make customer service faster and more helpful.</a:t>
            </a:r>
          </a:p>
          <a:p>
            <a:pPr marL="0" lvl="0" indent="0" eaLnBrk="0" fontAlgn="base" hangingPunct="0">
              <a:lnSpc>
                <a:spcPct val="100000"/>
              </a:lnSpc>
              <a:spcBef>
                <a:spcPct val="0"/>
              </a:spcBef>
              <a:spcAft>
                <a:spcPct val="0"/>
              </a:spcAft>
              <a:buNone/>
            </a:pPr>
            <a:endParaRPr lang="en-US" altLang="en-US" sz="1800" dirty="0">
              <a:latin typeface="Century Gothic" panose="020B0502020202020204" pitchFamily="34" charset="0"/>
            </a:endParaRPr>
          </a:p>
          <a:p>
            <a:pPr lvl="0" eaLnBrk="0" fontAlgn="base" hangingPunct="0">
              <a:lnSpc>
                <a:spcPct val="100000"/>
              </a:lnSpc>
              <a:spcBef>
                <a:spcPct val="0"/>
              </a:spcBef>
              <a:spcAft>
                <a:spcPct val="0"/>
              </a:spcAft>
            </a:pPr>
            <a:r>
              <a:rPr lang="en-US" altLang="en-US" sz="1800" b="1" dirty="0">
                <a:latin typeface="Century Gothic" panose="020B0502020202020204" pitchFamily="34" charset="0"/>
              </a:rPr>
              <a:t>Listen to customer feedback</a:t>
            </a:r>
            <a:r>
              <a:rPr lang="en-US" altLang="en-US" sz="1800" dirty="0">
                <a:latin typeface="Century Gothic" panose="020B0502020202020204" pitchFamily="34" charset="0"/>
              </a:rPr>
              <a:t> to fix common complaints and improve satisfaction. The next survey should include Ebonyi and Ogun State.</a:t>
            </a:r>
          </a:p>
          <a:p>
            <a:pPr marL="0" lvl="0" indent="0" eaLnBrk="0" fontAlgn="base" hangingPunct="0">
              <a:lnSpc>
                <a:spcPct val="100000"/>
              </a:lnSpc>
              <a:spcBef>
                <a:spcPct val="0"/>
              </a:spcBef>
              <a:spcAft>
                <a:spcPct val="0"/>
              </a:spcAft>
              <a:buNone/>
            </a:pPr>
            <a:endParaRPr lang="en-US" altLang="en-US" sz="1800" dirty="0">
              <a:latin typeface="Century Gothic" panose="020B0502020202020204" pitchFamily="34" charset="0"/>
            </a:endParaRPr>
          </a:p>
          <a:p>
            <a:pPr lvl="0" eaLnBrk="0" fontAlgn="base" hangingPunct="0">
              <a:lnSpc>
                <a:spcPct val="100000"/>
              </a:lnSpc>
              <a:spcBef>
                <a:spcPct val="0"/>
              </a:spcBef>
              <a:spcAft>
                <a:spcPct val="0"/>
              </a:spcAft>
            </a:pPr>
            <a:r>
              <a:rPr lang="en-US" altLang="en-US" sz="1800" b="1" dirty="0">
                <a:latin typeface="Century Gothic" panose="020B0502020202020204" pitchFamily="34" charset="0"/>
              </a:rPr>
              <a:t>Track key numbers</a:t>
            </a:r>
            <a:r>
              <a:rPr lang="en-US" altLang="en-US" sz="1800" dirty="0">
                <a:latin typeface="Century Gothic" panose="020B0502020202020204" pitchFamily="34" charset="0"/>
              </a:rPr>
              <a:t> like revenue, churn rate, and customer growth every month to guide decisions.</a:t>
            </a:r>
          </a:p>
          <a:p>
            <a:pPr lvl="0" eaLnBrk="0" fontAlgn="base" hangingPunct="0">
              <a:lnSpc>
                <a:spcPct val="100000"/>
              </a:lnSpc>
              <a:spcBef>
                <a:spcPct val="0"/>
              </a:spcBef>
              <a:spcAft>
                <a:spcPct val="0"/>
              </a:spcAft>
            </a:pPr>
            <a:endParaRPr lang="en-US" altLang="en-US" sz="18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8329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A2BB66-C3A0-2F12-7376-8CB127223C0B}"/>
              </a:ext>
            </a:extLst>
          </p:cNvPr>
          <p:cNvSpPr>
            <a:spLocks noGrp="1"/>
          </p:cNvSpPr>
          <p:nvPr>
            <p:ph sz="half" idx="4294967295"/>
          </p:nvPr>
        </p:nvSpPr>
        <p:spPr>
          <a:xfrm>
            <a:off x="3326675" y="1381488"/>
            <a:ext cx="5181600" cy="4351338"/>
          </a:xfrm>
        </p:spPr>
        <p:txBody>
          <a:bodyPr>
            <a:normAutofit/>
          </a:bodyPr>
          <a:lstStyle/>
          <a:p>
            <a:pPr marL="0" indent="0" algn="ctr">
              <a:buNone/>
            </a:pPr>
            <a:endParaRPr lang="en-US" sz="5400" dirty="0"/>
          </a:p>
          <a:p>
            <a:pPr marL="0" indent="0" algn="ctr">
              <a:buNone/>
            </a:pPr>
            <a:endParaRPr lang="en-US" sz="5400" dirty="0"/>
          </a:p>
          <a:p>
            <a:pPr marL="0" indent="0" algn="ctr">
              <a:buNone/>
            </a:pPr>
            <a:r>
              <a:rPr lang="en-US" sz="6600" b="1" dirty="0">
                <a:latin typeface="Century Gothic" panose="020B0502020202020204" pitchFamily="34" charset="0"/>
              </a:rPr>
              <a:t>THANK YOU</a:t>
            </a:r>
          </a:p>
        </p:txBody>
      </p:sp>
    </p:spTree>
    <p:extLst>
      <p:ext uri="{BB962C8B-B14F-4D97-AF65-F5344CB8AC3E}">
        <p14:creationId xmlns:p14="http://schemas.microsoft.com/office/powerpoint/2010/main" val="4022153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1426</TotalTime>
  <Words>793</Words>
  <Application>Microsoft Office PowerPoint</Application>
  <PresentationFormat>Widescreen</PresentationFormat>
  <Paragraphs>294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Century Gothic</vt:lpstr>
      <vt:lpstr>Office Theme</vt:lpstr>
      <vt:lpstr>PowerPoint Presentation</vt:lpstr>
      <vt:lpstr>MTN CUSTOMER INSIGHTS DASHBOARD-1ST QUARTER 2025</vt:lpstr>
      <vt:lpstr>DATA FIELDS</vt:lpstr>
      <vt:lpstr>NUMBER OF CUSTOMERS ACROSS THE STATES</vt:lpstr>
      <vt:lpstr>AVERAGE USAGE AND REVENUE BY PLAN TYPE CATEGORY, AND DEVICE CATEGORY.</vt:lpstr>
      <vt:lpstr>TOTAL NUMBER OF ORDERS BASED ON PLAN TYPE AND CATEGORY</vt:lpstr>
      <vt:lpstr>TOTAL NUMBER OF ORDERS/TOTAL REVENUE BY SUBSCRIPTION PLAN(TOP 10)</vt:lpstr>
      <vt:lpstr>MONTHLY DATA USAGE FEB-44,534 JAN-22,160 MARCH-26,027</vt:lpstr>
      <vt:lpstr>Top 10 Customers by Total Revenue (with Satisfaction rate &amp; Churn Status)</vt:lpstr>
      <vt:lpstr>Distribution of Customer Satisfaction Rates</vt:lpstr>
      <vt:lpstr>Reasons for Customer Churn</vt:lpstr>
      <vt:lpstr>CUSTOMER CHURN STATUS BY DEVICE CATEGORY</vt:lpstr>
      <vt:lpstr>CUSTOMER CHURN STATUS BY AGE GROUP</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26</cp:revision>
  <dcterms:created xsi:type="dcterms:W3CDTF">2025-11-03T10:26:45Z</dcterms:created>
  <dcterms:modified xsi:type="dcterms:W3CDTF">2025-11-05T20:21:28Z</dcterms:modified>
</cp:coreProperties>
</file>